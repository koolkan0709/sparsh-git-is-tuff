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person, not the tech. People with diabetic neuropathy lose the pain that makes the rest of us shift our weight. SPARSH gives that warning back: it times how long each part of the foot carries load and buzzes before damage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101 million Indians have diabetes. Between a fifth and a third of people with diabetes will get a foot ulcer. Once healed, roughly 40% come back within a year, and about one ulcer in five ends in amputation. The cause is simple: pressure that nobody feels.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an untested idea. A randomised trial showed that alerting patients to sustained plantar pressure reduced ulcer recurrence at plantar sites. The same paper names pressure held for more than 15 minutes as a key variable, which is exactly what SPARSH measures. Our contribution is making it cheap, local and screen-free.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Sense: six zones under the sites where plantar ulcers form. Time: each zone keeps its own clock while loaded, and a lift of half a second resets it, so walking does not count. Warn: past the limit the device buzzes and the dashboard names the zone. For the demo the limit is 10 seconds instead of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are new. We time sustained load per zone instead of chasing peak pressure. The alert needs no phone or watch. Six zones are read through one analog pin by powering each in turn. And the device is the only source of truth: the dashboard displays the firmware's own counters, so the screen can never contradict the buzz. All four are working in today's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insole feeds an ESP32 that scans the six zones, runs one timer per zone and drives the buzzer. It broadcasts six counters over Wi-Fi. A small Python bridge, standard library only, turns those packets into a live stream for a browser dashboard. No frameworks, no cloud, nothing to install. Clinically we build on the IWGDF-reviewed evidence that relieving plantar pressure prevents recurrence; the regulatory route is India's Medical Devices Rules,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reading goes through the same pipeline. Discharge and a fixed settle make readings repeatable; time limits mean a loose wire gives zero, not a frozen device. Above 3000 the zone counts as loaded; drops under half a second are ignored; the feature we engineer is time under load per zone. For data we did not have, we generated it: a simulator for standing and walking, and a circuit model plus a fake insole to test the firmware. Nothing goes to a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users are often older and not app people, so the product works with zero interaction: the insole watches and the device buzzes. For carers and clinicians the dashboard speaks plainly and names the zone. Setup is three screens, it opens in any browser, and the day view shows which zones carried load for how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what exists. Today: the insole, the device logic and the live dashboard. In twelve weeks we can be pilot-ready: calibrated zones, a sealed insole and a battery ankle pod in the first month, a carer phone app and clinic report in the second, and usability sessions plus an ethics application and 20 pilot units in the third. We are not claiming clinical readiness; that needs the pilot and device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comes through clinics and screening programmes, which already see these patients; that is future work and labelled so. Scaling is cheap today because each update is only six numbers and the software needs nothing but a laptop. The research value is real: time-under-load data from Indian patients would let us test whether the 15-minute limit from UK research fits local footwear and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member, their role and their department and college. If the team spans colleges or disciplines, say so explicitly: the judges score it. Mention any clinician you spoke to. Add cards if you have a fourth or fifth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jump from paper to product: in Round 1 nothing was built. Then quote the reviewers' actual suggestions word for word and say what you changed for each. This criterion is worth ten marks, so fill it in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everything in software before flashing. Compiling the real firmware against a model of the circuit exposed two bugs in our earlier sketch, a scan freeze and a false alarm, which we fixed. An end-to-end run with real UDP packets on one laptop showed the dashboard trailing the buzz by 5 to 18 milliseconds; real Wi-Fi will add some delay. The design contract on the right is the whole interface between the three programs. Then switch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promise, then state plainly what is built, what is next and what the long-term goal is. Thank the judges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Keep answers short and honest; saying what is not yet validated earns more trust than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code quality and technical design criterion. Everything here matches the firmware, bridge and dashboard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5"/>
        </a:solidFill>
      </p:bgPr>
    </p:bg>
    <p:spTree>
      <p:nvGrpSpPr>
        <p:cNvPr id="1" name=""/>
        <p:cNvGrpSpPr/>
        <p:nvPr/>
      </p:nvGrpSpPr>
      <p:grpSpPr>
        <a:xfrm>
          <a:off x="0" y="0"/>
          <a:ext cx="0" cy="0"/>
          <a:chOff x="0" y="0"/>
          <a:chExt cx="0" cy="0"/>
        </a:xfrm>
      </p:grpSpPr>
      <p:pic>
        <p:nvPicPr>
          <p:cNvPr id="2" name="Image 0" descr="SPARSH logo: a footprint with a plus sign">    </p:cNvPr>
          <p:cNvPicPr>
            <a:picLocks noChangeAspect="1"/>
          </p:cNvPicPr>
          <p:nvPr/>
        </p:nvPicPr>
        <p:blipFill>
          <a:blip r:embed="rId1"/>
          <a:stretch>
            <a:fillRect/>
          </a:stretch>
        </p:blipFill>
        <p:spPr>
          <a:xfrm>
            <a:off x="731520" y="685800"/>
            <a:ext cx="475488" cy="822960"/>
          </a:xfrm>
          <a:prstGeom prst="rect">
            <a:avLst/>
          </a:prstGeom>
        </p:spPr>
      </p:pic>
      <p:sp>
        <p:nvSpPr>
          <p:cNvPr id="3" name="Text 0"/>
          <p:cNvSpPr txBox="1"/>
          <p:nvPr/>
        </p:nvSpPr>
        <p:spPr>
          <a:xfrm>
            <a:off x="685800" y="1691640"/>
            <a:ext cx="6583680" cy="1097280"/>
          </a:xfrm>
          <a:prstGeom prst="rect">
            <a:avLst/>
          </a:prstGeom>
          <a:noFill/>
          <a:ln/>
        </p:spPr>
        <p:txBody>
          <a:bodyPr wrap="square" lIns="0" tIns="0" rIns="0" bIns="0" rtlCol="0" anchor="t"/>
          <a:lstStyle/>
          <a:p>
            <a:pPr indent="0" marL="0">
              <a:buNone/>
            </a:pPr>
            <a:r>
              <a:rPr lang="en-US" sz="7200" b="1" spc="200" kern="0" dirty="0">
                <a:solidFill>
                  <a:srgbClr val="F2F5F4"/>
                </a:solidFill>
                <a:latin typeface="Cambria" pitchFamily="34" charset="0"/>
                <a:ea typeface="Cambria" pitchFamily="34" charset="-122"/>
                <a:cs typeface="Cambria" pitchFamily="34" charset="-120"/>
              </a:rPr>
              <a:t>SPARSH</a:t>
            </a:r>
            <a:endParaRPr lang="en-US" sz="7200" dirty="0"/>
          </a:p>
        </p:txBody>
      </p:sp>
      <p:sp>
        <p:nvSpPr>
          <p:cNvPr id="4" name="Text 1"/>
          <p:cNvSpPr txBox="1"/>
          <p:nvPr/>
        </p:nvSpPr>
        <p:spPr>
          <a:xfrm>
            <a:off x="713232" y="2852928"/>
            <a:ext cx="7406640" cy="548640"/>
          </a:xfrm>
          <a:prstGeom prst="rect">
            <a:avLst/>
          </a:prstGeom>
          <a:noFill/>
          <a:ln/>
        </p:spPr>
        <p:txBody>
          <a:bodyPr wrap="square" lIns="0" tIns="0" rIns="0" bIns="0" rtlCol="0" anchor="t"/>
          <a:lstStyle/>
          <a:p>
            <a:pPr indent="0" marL="0">
              <a:buNone/>
            </a:pPr>
            <a:r>
              <a:rPr lang="en-US" sz="2700" i="1" dirty="0">
                <a:solidFill>
                  <a:srgbClr val="A7C4C9"/>
                </a:solidFill>
                <a:latin typeface="Cambria" pitchFamily="34" charset="0"/>
                <a:ea typeface="Cambria" pitchFamily="34" charset="-122"/>
                <a:cs typeface="Cambria" pitchFamily="34" charset="-120"/>
              </a:rPr>
              <a:t>The warning your feet can no longer give you.</a:t>
            </a:r>
            <a:endParaRPr lang="en-US" sz="2700" dirty="0"/>
          </a:p>
        </p:txBody>
      </p:sp>
      <p:sp>
        <p:nvSpPr>
          <p:cNvPr id="5" name="Text 2"/>
          <p:cNvSpPr txBox="1"/>
          <p:nvPr/>
        </p:nvSpPr>
        <p:spPr>
          <a:xfrm>
            <a:off x="713232" y="3749040"/>
            <a:ext cx="6309360" cy="868680"/>
          </a:xfrm>
          <a:prstGeom prst="rect">
            <a:avLst/>
          </a:prstGeom>
          <a:noFill/>
          <a:ln/>
        </p:spPr>
        <p:txBody>
          <a:bodyPr wrap="square" lIns="0" tIns="0" rIns="0" bIns="0" rtlCol="0" anchor="t"/>
          <a:lstStyle/>
          <a:p>
            <a:pPr indent="0" marL="0">
              <a:buNone/>
            </a:pPr>
            <a:r>
              <a:rPr lang="en-US" sz="1800" dirty="0">
                <a:solidFill>
                  <a:srgbClr val="8FB0B6"/>
                </a:solidFill>
                <a:latin typeface="Calibri" pitchFamily="34" charset="0"/>
                <a:ea typeface="Calibri" pitchFamily="34" charset="-122"/>
                <a:cs typeface="Calibri" pitchFamily="34" charset="-120"/>
              </a:rPr>
              <a:t>A sensing insole that times how long each part of the foot stays loaded, and buzzes before the skin breaks down.</a:t>
            </a:r>
            <a:endParaRPr lang="en-US" sz="1800" dirty="0"/>
          </a:p>
        </p:txBody>
      </p:sp>
      <p:sp>
        <p:nvSpPr>
          <p:cNvPr id="6" name="Text 3"/>
          <p:cNvSpPr txBox="1"/>
          <p:nvPr/>
        </p:nvSpPr>
        <p:spPr>
          <a:xfrm>
            <a:off x="713232" y="5166360"/>
            <a:ext cx="6583680" cy="274320"/>
          </a:xfrm>
          <a:prstGeom prst="rect">
            <a:avLst/>
          </a:prstGeom>
          <a:noFill/>
          <a:ln/>
        </p:spPr>
        <p:txBody>
          <a:bodyPr wrap="square" lIns="0" tIns="0" rIns="0" bIns="0" rtlCol="0" anchor="t"/>
          <a:lstStyle/>
          <a:p>
            <a:pPr indent="0" marL="0">
              <a:buNone/>
            </a:pPr>
            <a:r>
              <a:rPr lang="en-US" sz="1300" dirty="0">
                <a:solidFill>
                  <a:srgbClr val="9FB8BD"/>
                </a:solidFill>
                <a:latin typeface="Calibri" pitchFamily="34" charset="0"/>
                <a:ea typeface="Calibri" pitchFamily="34" charset="-122"/>
                <a:cs typeface="Calibri" pitchFamily="34" charset="-120"/>
              </a:rPr>
              <a:t>VMEDITHON 3.0   ·   Bio × Engineering   ·   Buildathon</a:t>
            </a:r>
            <a:endParaRPr lang="en-US" sz="1300" dirty="0"/>
          </a:p>
        </p:txBody>
      </p:sp>
      <p:sp>
        <p:nvSpPr>
          <p:cNvPr id="7" name="Text 4"/>
          <p:cNvSpPr txBox="1"/>
          <p:nvPr/>
        </p:nvSpPr>
        <p:spPr>
          <a:xfrm>
            <a:off x="713232" y="5532120"/>
            <a:ext cx="6583680" cy="274320"/>
          </a:xfrm>
          <a:prstGeom prst="rect">
            <a:avLst/>
          </a:prstGeom>
          <a:noFill/>
          <a:ln/>
        </p:spPr>
        <p:txBody>
          <a:bodyPr wrap="square" lIns="0" tIns="0" rIns="0" bIns="0" rtlCol="0" anchor="t"/>
          <a:lstStyle/>
          <a:p>
            <a:pPr indent="0" marL="0">
              <a:buNone/>
            </a:pPr>
            <a:r>
              <a:rPr lang="en-US" sz="1300" dirty="0">
                <a:solidFill>
                  <a:srgbClr val="9FB8BD"/>
                </a:solidFill>
                <a:latin typeface="Calibri" pitchFamily="34" charset="0"/>
                <a:ea typeface="Calibri" pitchFamily="34" charset="-122"/>
                <a:cs typeface="Calibri" pitchFamily="34" charset="-120"/>
              </a:rPr>
              <a:t>Team  </a:t>
            </a:r>
            <a:pPr indent="0" marL="0">
              <a:buNone/>
            </a:pPr>
            <a:r>
              <a:rPr lang="en-US" sz="1300" i="1" dirty="0">
                <a:solidFill>
                  <a:srgbClr val="E8A33A"/>
                </a:solidFill>
                <a:latin typeface="Calibri" pitchFamily="34" charset="0"/>
                <a:ea typeface="Calibri" pitchFamily="34" charset="-122"/>
                <a:cs typeface="Calibri" pitchFamily="34" charset="-120"/>
              </a:rPr>
              <a:t>[Team name]</a:t>
            </a:r>
            <a:endParaRPr lang="en-US" sz="1300" dirty="0"/>
          </a:p>
        </p:txBody>
      </p:sp>
      <p:pic>
        <p:nvPicPr>
          <p:cNvPr id="8" name="Image 1" descr="Foot drawn as ridge lines, with load building under the ball of the foot">    </p:cNvPr>
          <p:cNvPicPr>
            <a:picLocks noChangeAspect="1"/>
          </p:cNvPicPr>
          <p:nvPr/>
        </p:nvPicPr>
        <p:blipFill>
          <a:blip r:embed="rId2"/>
          <a:stretch>
            <a:fillRect/>
          </a:stretch>
        </p:blipFill>
        <p:spPr>
          <a:xfrm>
            <a:off x="8366760" y="548640"/>
            <a:ext cx="2953512" cy="5760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114300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Neuropathy takes away the pain that makes people shift their weight</a:t>
            </a:r>
            <a:endParaRPr lang="en-US" sz="3400" dirty="0"/>
          </a:p>
        </p:txBody>
      </p:sp>
      <p:sp>
        <p:nvSpPr>
          <p:cNvPr id="3" name="Text 1"/>
          <p:cNvSpPr txBox="1"/>
          <p:nvPr/>
        </p:nvSpPr>
        <p:spPr>
          <a:xfrm>
            <a:off x="548640" y="1645920"/>
            <a:ext cx="10607040" cy="548640"/>
          </a:xfrm>
          <a:prstGeom prst="rect">
            <a:avLst/>
          </a:prstGeom>
          <a:noFill/>
          <a:ln/>
        </p:spPr>
        <p:txBody>
          <a:bodyPr wrap="square" lIns="0" tIns="0" rIns="0" bIns="0" rtlCol="0" anchor="t"/>
          <a:lstStyle/>
          <a:p>
            <a:pPr indent="0" marL="0">
              <a:buNone/>
            </a:pPr>
            <a:r>
              <a:rPr lang="en-US" sz="1700" dirty="0">
                <a:solidFill>
                  <a:srgbClr val="3C5A60"/>
                </a:solidFill>
                <a:latin typeface="Calibri" pitchFamily="34" charset="0"/>
                <a:ea typeface="Calibri" pitchFamily="34" charset="-122"/>
                <a:cs typeface="Calibri" pitchFamily="34" charset="-120"/>
              </a:rPr>
              <a:t>Ulcers form under repeated pressure on skin that can no longer feel it. Clinicians call what patients lose the gift of pain.</a:t>
            </a:r>
            <a:endParaRPr lang="en-US" sz="1700" dirty="0"/>
          </a:p>
        </p:txBody>
      </p:sp>
      <p:sp>
        <p:nvSpPr>
          <p:cNvPr id="4" name="Shape 2"/>
          <p:cNvSpPr/>
          <p:nvPr/>
        </p:nvSpPr>
        <p:spPr>
          <a:xfrm>
            <a:off x="548640" y="2468880"/>
            <a:ext cx="3566160" cy="2240280"/>
          </a:xfrm>
          <a:prstGeom prst="roundRect">
            <a:avLst>
              <a:gd name="adj" fmla="val 489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5" name="Text 3"/>
          <p:cNvSpPr txBox="1"/>
          <p:nvPr/>
        </p:nvSpPr>
        <p:spPr>
          <a:xfrm>
            <a:off x="868680" y="2697480"/>
            <a:ext cx="3017520" cy="914400"/>
          </a:xfrm>
          <a:prstGeom prst="rect">
            <a:avLst/>
          </a:prstGeom>
          <a:noFill/>
          <a:ln/>
        </p:spPr>
        <p:txBody>
          <a:bodyPr wrap="square" lIns="0" tIns="0" rIns="0" bIns="0" rtlCol="0" anchor="t"/>
          <a:lstStyle/>
          <a:p>
            <a:pPr indent="0" marL="0">
              <a:buNone/>
            </a:pPr>
            <a:r>
              <a:rPr lang="en-US" sz="5600" b="1" dirty="0">
                <a:solidFill>
                  <a:srgbClr val="0B2E35"/>
                </a:solidFill>
                <a:latin typeface="Cambria" pitchFamily="34" charset="0"/>
                <a:ea typeface="Cambria" pitchFamily="34" charset="-122"/>
                <a:cs typeface="Cambria" pitchFamily="34" charset="-120"/>
              </a:rPr>
              <a:t>101 M</a:t>
            </a:r>
            <a:endParaRPr lang="en-US" sz="5600" dirty="0"/>
          </a:p>
        </p:txBody>
      </p:sp>
      <p:sp>
        <p:nvSpPr>
          <p:cNvPr id="6" name="Text 4"/>
          <p:cNvSpPr txBox="1"/>
          <p:nvPr/>
        </p:nvSpPr>
        <p:spPr>
          <a:xfrm>
            <a:off x="868680" y="3703320"/>
            <a:ext cx="2971800" cy="822960"/>
          </a:xfrm>
          <a:prstGeom prst="rect">
            <a:avLst/>
          </a:prstGeom>
          <a:noFill/>
          <a:ln/>
        </p:spPr>
        <p:txBody>
          <a:bodyPr wrap="square" lIns="0" tIns="0" rIns="0" bIns="0" rtlCol="0" anchor="t"/>
          <a:lstStyle/>
          <a:p>
            <a:pPr indent="0" marL="0">
              <a:buNone/>
            </a:pPr>
            <a:r>
              <a:rPr lang="en-US" sz="1600" dirty="0">
                <a:solidFill>
                  <a:srgbClr val="3C5A60"/>
                </a:solidFill>
                <a:latin typeface="Calibri" pitchFamily="34" charset="0"/>
                <a:ea typeface="Calibri" pitchFamily="34" charset="-122"/>
                <a:cs typeface="Calibri" pitchFamily="34" charset="-120"/>
              </a:rPr>
              <a:t>Indians live with diabetes</a:t>
            </a:r>
            <a:endParaRPr lang="en-US" sz="1600" dirty="0"/>
          </a:p>
        </p:txBody>
      </p:sp>
      <p:sp>
        <p:nvSpPr>
          <p:cNvPr id="7" name="Shape 5"/>
          <p:cNvSpPr/>
          <p:nvPr/>
        </p:nvSpPr>
        <p:spPr>
          <a:xfrm>
            <a:off x="4370832" y="2468880"/>
            <a:ext cx="3566160" cy="2240280"/>
          </a:xfrm>
          <a:prstGeom prst="roundRect">
            <a:avLst>
              <a:gd name="adj" fmla="val 489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8" name="Text 6"/>
          <p:cNvSpPr txBox="1"/>
          <p:nvPr/>
        </p:nvSpPr>
        <p:spPr>
          <a:xfrm>
            <a:off x="4690872" y="2697480"/>
            <a:ext cx="3017520" cy="914400"/>
          </a:xfrm>
          <a:prstGeom prst="rect">
            <a:avLst/>
          </a:prstGeom>
          <a:noFill/>
          <a:ln/>
        </p:spPr>
        <p:txBody>
          <a:bodyPr wrap="square" lIns="0" tIns="0" rIns="0" bIns="0" rtlCol="0" anchor="t"/>
          <a:lstStyle/>
          <a:p>
            <a:pPr indent="0" marL="0">
              <a:buNone/>
            </a:pPr>
            <a:r>
              <a:rPr lang="en-US" sz="5600" b="1" dirty="0">
                <a:solidFill>
                  <a:srgbClr val="D9722F"/>
                </a:solidFill>
                <a:latin typeface="Cambria" pitchFamily="34" charset="0"/>
                <a:ea typeface="Cambria" pitchFamily="34" charset="-122"/>
                <a:cs typeface="Cambria" pitchFamily="34" charset="-120"/>
              </a:rPr>
              <a:t>19–34%</a:t>
            </a:r>
            <a:endParaRPr lang="en-US" sz="5600" dirty="0"/>
          </a:p>
        </p:txBody>
      </p:sp>
      <p:sp>
        <p:nvSpPr>
          <p:cNvPr id="9" name="Text 7"/>
          <p:cNvSpPr txBox="1"/>
          <p:nvPr/>
        </p:nvSpPr>
        <p:spPr>
          <a:xfrm>
            <a:off x="4690872" y="3703320"/>
            <a:ext cx="2971800" cy="822960"/>
          </a:xfrm>
          <a:prstGeom prst="rect">
            <a:avLst/>
          </a:prstGeom>
          <a:noFill/>
          <a:ln/>
        </p:spPr>
        <p:txBody>
          <a:bodyPr wrap="square" lIns="0" tIns="0" rIns="0" bIns="0" rtlCol="0" anchor="t"/>
          <a:lstStyle/>
          <a:p>
            <a:pPr indent="0" marL="0">
              <a:buNone/>
            </a:pPr>
            <a:r>
              <a:rPr lang="en-US" sz="1600" dirty="0">
                <a:solidFill>
                  <a:srgbClr val="3C5A60"/>
                </a:solidFill>
                <a:latin typeface="Calibri" pitchFamily="34" charset="0"/>
                <a:ea typeface="Calibri" pitchFamily="34" charset="-122"/>
                <a:cs typeface="Calibri" pitchFamily="34" charset="-120"/>
              </a:rPr>
              <a:t>of people with diabetes will develop a foot ulcer in their lifetime</a:t>
            </a:r>
            <a:endParaRPr lang="en-US" sz="1600" dirty="0"/>
          </a:p>
        </p:txBody>
      </p:sp>
      <p:sp>
        <p:nvSpPr>
          <p:cNvPr id="10" name="Shape 8"/>
          <p:cNvSpPr/>
          <p:nvPr/>
        </p:nvSpPr>
        <p:spPr>
          <a:xfrm>
            <a:off x="8193024" y="2468880"/>
            <a:ext cx="3566160" cy="2240280"/>
          </a:xfrm>
          <a:prstGeom prst="roundRect">
            <a:avLst>
              <a:gd name="adj" fmla="val 489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1" name="Text 9"/>
          <p:cNvSpPr txBox="1"/>
          <p:nvPr/>
        </p:nvSpPr>
        <p:spPr>
          <a:xfrm>
            <a:off x="8513064" y="2697480"/>
            <a:ext cx="3017520" cy="914400"/>
          </a:xfrm>
          <a:prstGeom prst="rect">
            <a:avLst/>
          </a:prstGeom>
          <a:noFill/>
          <a:ln/>
        </p:spPr>
        <p:txBody>
          <a:bodyPr wrap="square" lIns="0" tIns="0" rIns="0" bIns="0" rtlCol="0" anchor="t"/>
          <a:lstStyle/>
          <a:p>
            <a:pPr indent="0" marL="0">
              <a:buNone/>
            </a:pPr>
            <a:r>
              <a:rPr lang="en-US" sz="5600" b="1" dirty="0">
                <a:solidFill>
                  <a:srgbClr val="C0402E"/>
                </a:solidFill>
                <a:latin typeface="Cambria" pitchFamily="34" charset="0"/>
                <a:ea typeface="Cambria" pitchFamily="34" charset="-122"/>
                <a:cs typeface="Cambria" pitchFamily="34" charset="-120"/>
              </a:rPr>
              <a:t>~40%</a:t>
            </a:r>
            <a:endParaRPr lang="en-US" sz="5600" dirty="0"/>
          </a:p>
        </p:txBody>
      </p:sp>
      <p:sp>
        <p:nvSpPr>
          <p:cNvPr id="12" name="Text 10"/>
          <p:cNvSpPr txBox="1"/>
          <p:nvPr/>
        </p:nvSpPr>
        <p:spPr>
          <a:xfrm>
            <a:off x="8513064" y="3703320"/>
            <a:ext cx="2971800" cy="822960"/>
          </a:xfrm>
          <a:prstGeom prst="rect">
            <a:avLst/>
          </a:prstGeom>
          <a:noFill/>
          <a:ln/>
        </p:spPr>
        <p:txBody>
          <a:bodyPr wrap="square" lIns="0" tIns="0" rIns="0" bIns="0" rtlCol="0" anchor="t"/>
          <a:lstStyle/>
          <a:p>
            <a:pPr indent="0" marL="0">
              <a:buNone/>
            </a:pPr>
            <a:r>
              <a:rPr lang="en-US" sz="1600" dirty="0">
                <a:solidFill>
                  <a:srgbClr val="3C5A60"/>
                </a:solidFill>
                <a:latin typeface="Calibri" pitchFamily="34" charset="0"/>
                <a:ea typeface="Calibri" pitchFamily="34" charset="-122"/>
                <a:cs typeface="Calibri" pitchFamily="34" charset="-120"/>
              </a:rPr>
              <a:t>of healed foot ulcers come back within a year</a:t>
            </a:r>
            <a:endParaRPr lang="en-US" sz="1600" dirty="0"/>
          </a:p>
        </p:txBody>
      </p:sp>
      <p:sp>
        <p:nvSpPr>
          <p:cNvPr id="13" name="Shape 11"/>
          <p:cNvSpPr/>
          <p:nvPr/>
        </p:nvSpPr>
        <p:spPr>
          <a:xfrm>
            <a:off x="548640" y="5029200"/>
            <a:ext cx="457200" cy="457200"/>
          </a:xfrm>
          <a:prstGeom prst="ellipse">
            <a:avLst/>
          </a:prstGeom>
          <a:solidFill>
            <a:srgbClr val="C0402E"/>
          </a:solidFill>
          <a:ln w="12700">
            <a:solidFill>
              <a:srgbClr val="C0402E"/>
            </a:solidFill>
            <a:prstDash val="solid"/>
          </a:ln>
        </p:spPr>
      </p:sp>
      <p:pic>
        <p:nvPicPr>
          <p:cNvPr id="14" name="Image 0" descr="alert icon">    </p:cNvPr>
          <p:cNvPicPr>
            <a:picLocks noChangeAspect="1"/>
          </p:cNvPicPr>
          <p:nvPr/>
        </p:nvPicPr>
        <p:blipFill>
          <a:blip r:embed="rId1"/>
          <a:stretch>
            <a:fillRect/>
          </a:stretch>
        </p:blipFill>
        <p:spPr>
          <a:xfrm>
            <a:off x="653796" y="5134356"/>
            <a:ext cx="246888" cy="246888"/>
          </a:xfrm>
          <a:prstGeom prst="rect">
            <a:avLst/>
          </a:prstGeom>
        </p:spPr>
      </p:pic>
      <p:sp>
        <p:nvSpPr>
          <p:cNvPr id="15" name="Text 12"/>
          <p:cNvSpPr txBox="1"/>
          <p:nvPr/>
        </p:nvSpPr>
        <p:spPr>
          <a:xfrm>
            <a:off x="1188720" y="5074920"/>
            <a:ext cx="10058400" cy="411480"/>
          </a:xfrm>
          <a:prstGeom prst="rect">
            <a:avLst/>
          </a:prstGeom>
          <a:noFill/>
          <a:ln/>
        </p:spPr>
        <p:txBody>
          <a:bodyPr wrap="square" lIns="0" tIns="0" rIns="0" bIns="0" rtlCol="0" anchor="t"/>
          <a:lstStyle/>
          <a:p>
            <a:pPr indent="0" marL="0">
              <a:buNone/>
            </a:pPr>
            <a:r>
              <a:rPr lang="en-US" sz="2200" b="1" dirty="0">
                <a:solidFill>
                  <a:srgbClr val="0B2E35"/>
                </a:solidFill>
                <a:latin typeface="Cambria" pitchFamily="34" charset="0"/>
                <a:ea typeface="Cambria" pitchFamily="34" charset="-122"/>
                <a:cs typeface="Cambria" pitchFamily="34" charset="-120"/>
              </a:rPr>
              <a:t>About 1 in 5 diabetic foot ulcers ends in a lower-limb amputation.</a:t>
            </a:r>
            <a:endParaRPr lang="en-US" sz="2200" dirty="0"/>
          </a:p>
        </p:txBody>
      </p:sp>
      <p:sp>
        <p:nvSpPr>
          <p:cNvPr id="16" name="Text 13"/>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000" dirty="0">
                <a:solidFill>
                  <a:srgbClr val="5C7C83"/>
                </a:solidFill>
                <a:latin typeface="Calibri" pitchFamily="34" charset="0"/>
                <a:ea typeface="Calibri" pitchFamily="34" charset="-122"/>
                <a:cs typeface="Calibri" pitchFamily="34" charset="-120"/>
              </a:rPr>
              <a:t>Sources: ICMR-INDIAB-17, Lancet Diabetes &amp; Endocrinology 2023 (2021 estimate)  ·  Armstrong, Boulton &amp; Bus, NEJM 2017  ·  Abbott et al., Lancet Digital Health 2019</a:t>
            </a:r>
            <a:endParaRPr lang="en-US" sz="1000" dirty="0"/>
          </a:p>
        </p:txBody>
      </p:sp>
      <p:sp>
        <p:nvSpPr>
          <p:cNvPr id="17" name="Text 14"/>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18" name="Text 15"/>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Pressure alerts are proven to help</a:t>
            </a:r>
            <a:endParaRPr lang="en-US" sz="3400" dirty="0"/>
          </a:p>
        </p:txBody>
      </p:sp>
      <p:sp>
        <p:nvSpPr>
          <p:cNvPr id="3" name="Text 1"/>
          <p:cNvSpPr txBox="1"/>
          <p:nvPr/>
        </p:nvSpPr>
        <p:spPr>
          <a:xfrm>
            <a:off x="548640" y="1188720"/>
            <a:ext cx="10972800" cy="411480"/>
          </a:xfrm>
          <a:prstGeom prst="rect">
            <a:avLst/>
          </a:prstGeom>
          <a:noFill/>
          <a:ln/>
        </p:spPr>
        <p:txBody>
          <a:bodyPr wrap="square" lIns="0" tIns="0" rIns="0" bIns="0" rtlCol="0" anchor="t"/>
          <a:lstStyle/>
          <a:p>
            <a:pPr indent="0" marL="0">
              <a:buNone/>
            </a:pPr>
            <a:r>
              <a:rPr lang="en-US" sz="1800" dirty="0">
                <a:solidFill>
                  <a:srgbClr val="3C5A60"/>
                </a:solidFill>
                <a:latin typeface="Calibri" pitchFamily="34" charset="0"/>
                <a:ea typeface="Calibri" pitchFamily="34" charset="-122"/>
                <a:cs typeface="Calibri" pitchFamily="34" charset="-120"/>
              </a:rPr>
              <a:t>SPARSH rebuilds the idea from off-the-shelf parts, with an alert that needs no screen.</a:t>
            </a:r>
            <a:endParaRPr lang="en-US" sz="1800" dirty="0"/>
          </a:p>
        </p:txBody>
      </p:sp>
      <p:sp>
        <p:nvSpPr>
          <p:cNvPr id="4" name="Shape 2"/>
          <p:cNvSpPr/>
          <p:nvPr/>
        </p:nvSpPr>
        <p:spPr>
          <a:xfrm>
            <a:off x="548640" y="1920240"/>
            <a:ext cx="5394960" cy="3840480"/>
          </a:xfrm>
          <a:prstGeom prst="roundRect">
            <a:avLst>
              <a:gd name="adj" fmla="val 2857"/>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5" name="Text 3"/>
          <p:cNvSpPr txBox="1"/>
          <p:nvPr/>
        </p:nvSpPr>
        <p:spPr>
          <a:xfrm>
            <a:off x="868680" y="2148840"/>
            <a:ext cx="4754880" cy="36576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The evidence</a:t>
            </a:r>
            <a:endParaRPr lang="en-US" sz="2000" dirty="0"/>
          </a:p>
        </p:txBody>
      </p:sp>
      <p:sp>
        <p:nvSpPr>
          <p:cNvPr id="6" name="Text 4"/>
          <p:cNvSpPr txBox="1"/>
          <p:nvPr/>
        </p:nvSpPr>
        <p:spPr>
          <a:xfrm>
            <a:off x="868680" y="2560320"/>
            <a:ext cx="1737360" cy="868680"/>
          </a:xfrm>
          <a:prstGeom prst="rect">
            <a:avLst/>
          </a:prstGeom>
          <a:noFill/>
          <a:ln/>
        </p:spPr>
        <p:txBody>
          <a:bodyPr wrap="square" lIns="0" tIns="0" rIns="0" bIns="0" rtlCol="0" anchor="t"/>
          <a:lstStyle/>
          <a:p>
            <a:pPr indent="0" marL="0">
              <a:buNone/>
            </a:pPr>
            <a:r>
              <a:rPr lang="en-US" sz="5400" b="1" dirty="0">
                <a:solidFill>
                  <a:srgbClr val="D9722F"/>
                </a:solidFill>
                <a:latin typeface="Cambria" pitchFamily="34" charset="0"/>
                <a:ea typeface="Cambria" pitchFamily="34" charset="-122"/>
                <a:cs typeface="Cambria" pitchFamily="34" charset="-120"/>
              </a:rPr>
              <a:t>71%</a:t>
            </a:r>
            <a:endParaRPr lang="en-US" sz="5400" dirty="0"/>
          </a:p>
        </p:txBody>
      </p:sp>
      <p:sp>
        <p:nvSpPr>
          <p:cNvPr id="7" name="Text 5"/>
          <p:cNvSpPr txBox="1"/>
          <p:nvPr/>
        </p:nvSpPr>
        <p:spPr>
          <a:xfrm>
            <a:off x="2606040" y="2697480"/>
            <a:ext cx="3108960" cy="731520"/>
          </a:xfrm>
          <a:prstGeom prst="rect">
            <a:avLst/>
          </a:prstGeom>
          <a:noFill/>
          <a:ln/>
        </p:spPr>
        <p:txBody>
          <a:bodyPr wrap="square" lIns="0" tIns="0" rIns="0" bIns="0" rtlCol="0" anchor="t"/>
          <a:lstStyle/>
          <a:p>
            <a:pPr indent="0" marL="0">
              <a:buNone/>
            </a:pPr>
            <a:r>
              <a:rPr lang="en-US" sz="1400" dirty="0">
                <a:solidFill>
                  <a:srgbClr val="3C5A60"/>
                </a:solidFill>
                <a:latin typeface="Calibri" pitchFamily="34" charset="0"/>
                <a:ea typeface="Calibri" pitchFamily="34" charset="-122"/>
                <a:cs typeface="Calibri" pitchFamily="34" charset="-120"/>
              </a:rPr>
              <a:t>fewer ulcers over 18 months in the group that received pressure alerts</a:t>
            </a:r>
            <a:endParaRPr lang="en-US" sz="1400" dirty="0"/>
          </a:p>
        </p:txBody>
      </p:sp>
      <p:sp>
        <p:nvSpPr>
          <p:cNvPr id="8" name="Text 6"/>
          <p:cNvSpPr txBox="1"/>
          <p:nvPr/>
        </p:nvSpPr>
        <p:spPr>
          <a:xfrm>
            <a:off x="868680" y="3611880"/>
            <a:ext cx="475488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C5A60"/>
                </a:solidFill>
                <a:latin typeface="Calibri" pitchFamily="34" charset="0"/>
                <a:ea typeface="Calibri" pitchFamily="34" charset="-122"/>
                <a:cs typeface="Calibri" pitchFamily="34" charset="-120"/>
              </a:rPr>
              <a:t>Randomised trial: 58 people with neuropathy and a past plantar ulcer</a:t>
            </a:r>
            <a:endParaRPr lang="en-US" sz="1400" dirty="0"/>
          </a:p>
          <a:p>
            <a:pPr marL="342900" indent="-342900">
              <a:spcAft>
                <a:spcPts val="600"/>
              </a:spcAft>
              <a:buSzPct val="100000"/>
              <a:buChar char="•"/>
            </a:pPr>
            <a:r>
              <a:rPr lang="en-US" sz="1400" dirty="0">
                <a:solidFill>
                  <a:srgbClr val="3C5A60"/>
                </a:solidFill>
                <a:latin typeface="Calibri" pitchFamily="34" charset="0"/>
                <a:ea typeface="Calibri" pitchFamily="34" charset="-122"/>
                <a:cs typeface="Calibri" pitchFamily="34" charset="-120"/>
              </a:rPr>
              <a:t>Alerts fired on sustained high pressure, with advice to offload</a:t>
            </a:r>
            <a:endParaRPr lang="en-US" sz="1400" dirty="0"/>
          </a:p>
          <a:p>
            <a:pPr marL="342900" indent="-342900">
              <a:spcAft>
                <a:spcPts val="600"/>
              </a:spcAft>
              <a:buSzPct val="100000"/>
              <a:buChar char="•"/>
            </a:pPr>
            <a:r>
              <a:rPr lang="en-US" sz="1400" dirty="0">
                <a:solidFill>
                  <a:srgbClr val="3C5A60"/>
                </a:solidFill>
                <a:latin typeface="Calibri" pitchFamily="34" charset="0"/>
                <a:ea typeface="Calibri" pitchFamily="34" charset="-122"/>
                <a:cs typeface="Calibri" pitchFamily="34" charset="-120"/>
              </a:rPr>
              <a:t>The paper names pressure held for over 15 minutes, sitting or standing, as an important variable</a:t>
            </a:r>
            <a:endParaRPr lang="en-US" sz="1400" dirty="0"/>
          </a:p>
        </p:txBody>
      </p:sp>
      <p:sp>
        <p:nvSpPr>
          <p:cNvPr id="9" name="Text 7"/>
          <p:cNvSpPr txBox="1"/>
          <p:nvPr/>
        </p:nvSpPr>
        <p:spPr>
          <a:xfrm>
            <a:off x="868680" y="5303520"/>
            <a:ext cx="4846320" cy="274320"/>
          </a:xfrm>
          <a:prstGeom prst="rect">
            <a:avLst/>
          </a:prstGeom>
          <a:noFill/>
          <a:ln/>
        </p:spPr>
        <p:txBody>
          <a:bodyPr wrap="square" lIns="0" tIns="0" rIns="0" bIns="0" rtlCol="0" anchor="t"/>
          <a:lstStyle/>
          <a:p>
            <a:pPr indent="0" marL="0">
              <a:buNone/>
            </a:pPr>
            <a:r>
              <a:rPr lang="en-US" sz="1000" dirty="0">
                <a:solidFill>
                  <a:srgbClr val="5C7C83"/>
                </a:solidFill>
                <a:latin typeface="Calibri" pitchFamily="34" charset="0"/>
                <a:ea typeface="Calibri" pitchFamily="34" charset="-122"/>
                <a:cs typeface="Calibri" pitchFamily="34" charset="-120"/>
              </a:rPr>
              <a:t>Abbott et al., Lancet Digital Health 2019; trial sponsor Orpyx reported the 71% figure</a:t>
            </a:r>
            <a:endParaRPr lang="en-US" sz="1000" dirty="0"/>
          </a:p>
        </p:txBody>
      </p:sp>
      <p:sp>
        <p:nvSpPr>
          <p:cNvPr id="10" name="Shape 8"/>
          <p:cNvSpPr/>
          <p:nvPr/>
        </p:nvSpPr>
        <p:spPr>
          <a:xfrm>
            <a:off x="6245352" y="1920240"/>
            <a:ext cx="5394960" cy="3840480"/>
          </a:xfrm>
          <a:prstGeom prst="roundRect">
            <a:avLst>
              <a:gd name="adj" fmla="val 2857"/>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1" name="Text 9"/>
          <p:cNvSpPr txBox="1"/>
          <p:nvPr/>
        </p:nvSpPr>
        <p:spPr>
          <a:xfrm>
            <a:off x="6565392" y="2148840"/>
            <a:ext cx="4754880" cy="36576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What SPARSH changes</a:t>
            </a:r>
            <a:endParaRPr lang="en-US" sz="2000" dirty="0"/>
          </a:p>
        </p:txBody>
      </p:sp>
      <p:sp>
        <p:nvSpPr>
          <p:cNvPr id="12" name="Shape 10"/>
          <p:cNvSpPr/>
          <p:nvPr/>
        </p:nvSpPr>
        <p:spPr>
          <a:xfrm>
            <a:off x="6565392" y="2697480"/>
            <a:ext cx="502920" cy="502920"/>
          </a:xfrm>
          <a:prstGeom prst="ellipse">
            <a:avLst/>
          </a:prstGeom>
          <a:solidFill>
            <a:srgbClr val="1A535E"/>
          </a:solidFill>
          <a:ln w="12700">
            <a:solidFill>
              <a:srgbClr val="1A535E"/>
            </a:solidFill>
            <a:prstDash val="solid"/>
          </a:ln>
        </p:spPr>
      </p:sp>
      <p:pic>
        <p:nvPicPr>
          <p:cNvPr id="13" name="Image 0" descr="watch icon">    </p:cNvPr>
          <p:cNvPicPr>
            <a:picLocks noChangeAspect="1"/>
          </p:cNvPicPr>
          <p:nvPr/>
        </p:nvPicPr>
        <p:blipFill>
          <a:blip r:embed="rId1"/>
          <a:stretch>
            <a:fillRect/>
          </a:stretch>
        </p:blipFill>
        <p:spPr>
          <a:xfrm>
            <a:off x="6681064" y="2813152"/>
            <a:ext cx="271577" cy="271577"/>
          </a:xfrm>
          <a:prstGeom prst="rect">
            <a:avLst/>
          </a:prstGeom>
        </p:spPr>
      </p:pic>
      <p:sp>
        <p:nvSpPr>
          <p:cNvPr id="14" name="Text 11"/>
          <p:cNvSpPr txBox="1"/>
          <p:nvPr/>
        </p:nvSpPr>
        <p:spPr>
          <a:xfrm>
            <a:off x="7269480" y="2679192"/>
            <a:ext cx="4114800" cy="292608"/>
          </a:xfrm>
          <a:prstGeom prst="rect">
            <a:avLst/>
          </a:prstGeom>
          <a:noFill/>
          <a:ln/>
        </p:spPr>
        <p:txBody>
          <a:bodyPr wrap="square" lIns="0" tIns="0" rIns="0" bIns="0" rtlCol="0" anchor="t"/>
          <a:lstStyle/>
          <a:p>
            <a:pPr indent="0" marL="0">
              <a:buNone/>
            </a:pPr>
            <a:r>
              <a:rPr lang="en-US" sz="1300" dirty="0">
                <a:solidFill>
                  <a:srgbClr val="5C7C83"/>
                </a:solidFill>
                <a:latin typeface="Calibri" pitchFamily="34" charset="0"/>
                <a:ea typeface="Calibri" pitchFamily="34" charset="-122"/>
                <a:cs typeface="Calibri" pitchFamily="34" charset="-120"/>
              </a:rPr>
              <a:t>The trial system alerted through a smartwatch.</a:t>
            </a:r>
            <a:endParaRPr lang="en-US" sz="1300" dirty="0"/>
          </a:p>
        </p:txBody>
      </p:sp>
      <p:sp>
        <p:nvSpPr>
          <p:cNvPr id="15" name="Text 12"/>
          <p:cNvSpPr txBox="1"/>
          <p:nvPr/>
        </p:nvSpPr>
        <p:spPr>
          <a:xfrm>
            <a:off x="7269480" y="2971800"/>
            <a:ext cx="4114800" cy="502920"/>
          </a:xfrm>
          <a:prstGeom prst="rect">
            <a:avLst/>
          </a:prstGeom>
          <a:noFill/>
          <a:ln/>
        </p:spPr>
        <p:txBody>
          <a:bodyPr wrap="square" lIns="0" tIns="0" rIns="0" bIns="0" rtlCol="0" anchor="t"/>
          <a:lstStyle/>
          <a:p>
            <a:pPr indent="0" marL="0">
              <a:buNone/>
            </a:pPr>
            <a:r>
              <a:rPr lang="en-US" sz="1500" b="1" dirty="0">
                <a:solidFill>
                  <a:srgbClr val="0B2E35"/>
                </a:solidFill>
                <a:latin typeface="Calibri" pitchFamily="34" charset="0"/>
                <a:ea typeface="Calibri" pitchFamily="34" charset="-122"/>
                <a:cs typeface="Calibri" pitchFamily="34" charset="-120"/>
              </a:rPr>
              <a:t>SPARSH buzzes by itself. No phone, watch or app.</a:t>
            </a:r>
            <a:endParaRPr lang="en-US" sz="1500" dirty="0"/>
          </a:p>
        </p:txBody>
      </p:sp>
      <p:sp>
        <p:nvSpPr>
          <p:cNvPr id="16" name="Shape 13"/>
          <p:cNvSpPr/>
          <p:nvPr/>
        </p:nvSpPr>
        <p:spPr>
          <a:xfrm>
            <a:off x="6565392" y="3685032"/>
            <a:ext cx="502920" cy="502920"/>
          </a:xfrm>
          <a:prstGeom prst="ellipse">
            <a:avLst/>
          </a:prstGeom>
          <a:solidFill>
            <a:srgbClr val="1A535E"/>
          </a:solidFill>
          <a:ln w="12700">
            <a:solidFill>
              <a:srgbClr val="1A535E"/>
            </a:solidFill>
            <a:prstDash val="solid"/>
          </a:ln>
        </p:spPr>
      </p:sp>
      <p:pic>
        <p:nvPicPr>
          <p:cNvPr id="17" name="Image 1" descr="impact icon">    </p:cNvPr>
          <p:cNvPicPr>
            <a:picLocks noChangeAspect="1"/>
          </p:cNvPicPr>
          <p:nvPr/>
        </p:nvPicPr>
        <p:blipFill>
          <a:blip r:embed="rId2"/>
          <a:stretch>
            <a:fillRect/>
          </a:stretch>
        </p:blipFill>
        <p:spPr>
          <a:xfrm>
            <a:off x="6681064" y="3800704"/>
            <a:ext cx="271577" cy="271577"/>
          </a:xfrm>
          <a:prstGeom prst="rect">
            <a:avLst/>
          </a:prstGeom>
        </p:spPr>
      </p:pic>
      <p:sp>
        <p:nvSpPr>
          <p:cNvPr id="18" name="Text 14"/>
          <p:cNvSpPr txBox="1"/>
          <p:nvPr/>
        </p:nvSpPr>
        <p:spPr>
          <a:xfrm>
            <a:off x="7269480" y="3666744"/>
            <a:ext cx="4114800" cy="292608"/>
          </a:xfrm>
          <a:prstGeom prst="rect">
            <a:avLst/>
          </a:prstGeom>
          <a:noFill/>
          <a:ln/>
        </p:spPr>
        <p:txBody>
          <a:bodyPr wrap="square" lIns="0" tIns="0" rIns="0" bIns="0" rtlCol="0" anchor="t"/>
          <a:lstStyle/>
          <a:p>
            <a:pPr indent="0" marL="0">
              <a:buNone/>
            </a:pPr>
            <a:r>
              <a:rPr lang="en-US" sz="1300" dirty="0">
                <a:solidFill>
                  <a:srgbClr val="5C7C83"/>
                </a:solidFill>
                <a:latin typeface="Calibri" pitchFamily="34" charset="0"/>
                <a:ea typeface="Calibri" pitchFamily="34" charset="-122"/>
                <a:cs typeface="Calibri" pitchFamily="34" charset="-120"/>
              </a:rPr>
              <a:t>Commercial versions are sold into US insurance billing.</a:t>
            </a:r>
            <a:endParaRPr lang="en-US" sz="1300" dirty="0"/>
          </a:p>
        </p:txBody>
      </p:sp>
      <p:sp>
        <p:nvSpPr>
          <p:cNvPr id="19" name="Text 15"/>
          <p:cNvSpPr txBox="1"/>
          <p:nvPr/>
        </p:nvSpPr>
        <p:spPr>
          <a:xfrm>
            <a:off x="7269480" y="3959352"/>
            <a:ext cx="4114800" cy="502920"/>
          </a:xfrm>
          <a:prstGeom prst="rect">
            <a:avLst/>
          </a:prstGeom>
          <a:noFill/>
          <a:ln/>
        </p:spPr>
        <p:txBody>
          <a:bodyPr wrap="square" lIns="0" tIns="0" rIns="0" bIns="0" rtlCol="0" anchor="t"/>
          <a:lstStyle/>
          <a:p>
            <a:pPr indent="0" marL="0">
              <a:buNone/>
            </a:pPr>
            <a:r>
              <a:rPr lang="en-US" sz="1500" b="1" dirty="0">
                <a:solidFill>
                  <a:srgbClr val="0B2E35"/>
                </a:solidFill>
                <a:latin typeface="Calibri" pitchFamily="34" charset="0"/>
                <a:ea typeface="Calibri" pitchFamily="34" charset="-122"/>
                <a:cs typeface="Calibri" pitchFamily="34" charset="-120"/>
              </a:rPr>
              <a:t>SPARSH is built from off-the-shelf parts.</a:t>
            </a:r>
            <a:endParaRPr lang="en-US" sz="1500" dirty="0"/>
          </a:p>
        </p:txBody>
      </p:sp>
      <p:sp>
        <p:nvSpPr>
          <p:cNvPr id="20" name="Shape 16"/>
          <p:cNvSpPr/>
          <p:nvPr/>
        </p:nvSpPr>
        <p:spPr>
          <a:xfrm>
            <a:off x="6565392" y="4672584"/>
            <a:ext cx="502920" cy="502920"/>
          </a:xfrm>
          <a:prstGeom prst="ellipse">
            <a:avLst/>
          </a:prstGeom>
          <a:solidFill>
            <a:srgbClr val="1A535E"/>
          </a:solidFill>
          <a:ln w="12700">
            <a:solidFill>
              <a:srgbClr val="1A535E"/>
            </a:solidFill>
            <a:prstDash val="solid"/>
          </a:ln>
        </p:spPr>
      </p:sp>
      <p:pic>
        <p:nvPicPr>
          <p:cNvPr id="21" name="Image 2" descr="lock icon">    </p:cNvPr>
          <p:cNvPicPr>
            <a:picLocks noChangeAspect="1"/>
          </p:cNvPicPr>
          <p:nvPr/>
        </p:nvPicPr>
        <p:blipFill>
          <a:blip r:embed="rId3"/>
          <a:stretch>
            <a:fillRect/>
          </a:stretch>
        </p:blipFill>
        <p:spPr>
          <a:xfrm>
            <a:off x="6681064" y="4788256"/>
            <a:ext cx="271577" cy="271577"/>
          </a:xfrm>
          <a:prstGeom prst="rect">
            <a:avLst/>
          </a:prstGeom>
        </p:spPr>
      </p:pic>
      <p:sp>
        <p:nvSpPr>
          <p:cNvPr id="22" name="Text 17"/>
          <p:cNvSpPr txBox="1"/>
          <p:nvPr/>
        </p:nvSpPr>
        <p:spPr>
          <a:xfrm>
            <a:off x="7269480" y="4654296"/>
            <a:ext cx="4114800" cy="292608"/>
          </a:xfrm>
          <a:prstGeom prst="rect">
            <a:avLst/>
          </a:prstGeom>
          <a:noFill/>
          <a:ln/>
        </p:spPr>
        <p:txBody>
          <a:bodyPr wrap="square" lIns="0" tIns="0" rIns="0" bIns="0" rtlCol="0" anchor="t"/>
          <a:lstStyle/>
          <a:p>
            <a:pPr indent="0" marL="0">
              <a:buNone/>
            </a:pPr>
            <a:r>
              <a:rPr lang="en-US" sz="1300" dirty="0">
                <a:solidFill>
                  <a:srgbClr val="5C7C83"/>
                </a:solidFill>
                <a:latin typeface="Calibri" pitchFamily="34" charset="0"/>
                <a:ea typeface="Calibri" pitchFamily="34" charset="-122"/>
                <a:cs typeface="Calibri" pitchFamily="34" charset="-120"/>
              </a:rPr>
              <a:t>Continuous monitoring creates personal health data.</a:t>
            </a:r>
            <a:endParaRPr lang="en-US" sz="1300" dirty="0"/>
          </a:p>
        </p:txBody>
      </p:sp>
      <p:sp>
        <p:nvSpPr>
          <p:cNvPr id="23" name="Text 18"/>
          <p:cNvSpPr txBox="1"/>
          <p:nvPr/>
        </p:nvSpPr>
        <p:spPr>
          <a:xfrm>
            <a:off x="7269480" y="4946904"/>
            <a:ext cx="4114800" cy="502920"/>
          </a:xfrm>
          <a:prstGeom prst="rect">
            <a:avLst/>
          </a:prstGeom>
          <a:noFill/>
          <a:ln/>
        </p:spPr>
        <p:txBody>
          <a:bodyPr wrap="square" lIns="0" tIns="0" rIns="0" bIns="0" rtlCol="0" anchor="t"/>
          <a:lstStyle/>
          <a:p>
            <a:pPr indent="0" marL="0">
              <a:buNone/>
            </a:pPr>
            <a:r>
              <a:rPr lang="en-US" sz="1500" b="1" dirty="0">
                <a:solidFill>
                  <a:srgbClr val="0B2E35"/>
                </a:solidFill>
                <a:latin typeface="Calibri" pitchFamily="34" charset="0"/>
                <a:ea typeface="Calibri" pitchFamily="34" charset="-122"/>
                <a:cs typeface="Calibri" pitchFamily="34" charset="-120"/>
              </a:rPr>
              <a:t>SPARSH keeps readings on the local network. No cloud, no account.</a:t>
            </a:r>
            <a:endParaRPr lang="en-US" sz="1500" dirty="0"/>
          </a:p>
        </p:txBody>
      </p:sp>
      <p:sp>
        <p:nvSpPr>
          <p:cNvPr id="24" name="Text 19"/>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25" name="Text 20"/>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How SPARSH works</a:t>
            </a:r>
            <a:endParaRPr lang="en-US" sz="3400" dirty="0"/>
          </a:p>
        </p:txBody>
      </p:sp>
      <p:sp>
        <p:nvSpPr>
          <p:cNvPr id="3" name="Shape 1"/>
          <p:cNvSpPr/>
          <p:nvPr/>
        </p:nvSpPr>
        <p:spPr>
          <a:xfrm>
            <a:off x="548640" y="1325880"/>
            <a:ext cx="3291840" cy="4892040"/>
          </a:xfrm>
          <a:prstGeom prst="roundRect">
            <a:avLst>
              <a:gd name="adj" fmla="val 3333"/>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pic>
        <p:nvPicPr>
          <p:cNvPr id="4" name="Image 0" descr="Foot map with six labelled zones and their load timers">    </p:cNvPr>
          <p:cNvPicPr>
            <a:picLocks noChangeAspect="1"/>
          </p:cNvPicPr>
          <p:nvPr/>
        </p:nvPicPr>
        <p:blipFill>
          <a:blip r:embed="rId1"/>
          <a:stretch>
            <a:fillRect/>
          </a:stretch>
        </p:blipFill>
        <p:spPr>
          <a:xfrm>
            <a:off x="932688" y="1481328"/>
            <a:ext cx="2359152" cy="4617720"/>
          </a:xfrm>
          <a:prstGeom prst="rect">
            <a:avLst/>
          </a:prstGeom>
        </p:spPr>
      </p:pic>
      <p:sp>
        <p:nvSpPr>
          <p:cNvPr id="5" name="Shape 2"/>
          <p:cNvSpPr/>
          <p:nvPr/>
        </p:nvSpPr>
        <p:spPr>
          <a:xfrm>
            <a:off x="4343400" y="1463040"/>
            <a:ext cx="658368" cy="658368"/>
          </a:xfrm>
          <a:prstGeom prst="ellipse">
            <a:avLst/>
          </a:prstGeom>
          <a:solidFill>
            <a:srgbClr val="1A535E"/>
          </a:solidFill>
          <a:ln w="12700">
            <a:solidFill>
              <a:srgbClr val="1A535E"/>
            </a:solidFill>
            <a:prstDash val="solid"/>
          </a:ln>
        </p:spPr>
      </p:sp>
      <p:pic>
        <p:nvPicPr>
          <p:cNvPr id="6" name="Image 1" descr="sense icon">    </p:cNvPr>
          <p:cNvPicPr>
            <a:picLocks noChangeAspect="1"/>
          </p:cNvPicPr>
          <p:nvPr/>
        </p:nvPicPr>
        <p:blipFill>
          <a:blip r:embed="rId2"/>
          <a:stretch>
            <a:fillRect/>
          </a:stretch>
        </p:blipFill>
        <p:spPr>
          <a:xfrm>
            <a:off x="4494825" y="1614465"/>
            <a:ext cx="355519" cy="355519"/>
          </a:xfrm>
          <a:prstGeom prst="rect">
            <a:avLst/>
          </a:prstGeom>
        </p:spPr>
      </p:pic>
      <p:sp>
        <p:nvSpPr>
          <p:cNvPr id="7" name="Text 3"/>
          <p:cNvSpPr txBox="1"/>
          <p:nvPr/>
        </p:nvSpPr>
        <p:spPr>
          <a:xfrm>
            <a:off x="5257800" y="1444752"/>
            <a:ext cx="5943600" cy="411480"/>
          </a:xfrm>
          <a:prstGeom prst="rect">
            <a:avLst/>
          </a:prstGeom>
          <a:noFill/>
          <a:ln/>
        </p:spPr>
        <p:txBody>
          <a:bodyPr wrap="square" lIns="0" tIns="0" rIns="0" bIns="0" rtlCol="0" anchor="t"/>
          <a:lstStyle/>
          <a:p>
            <a:pPr indent="0" marL="0">
              <a:buNone/>
            </a:pPr>
            <a:r>
              <a:rPr lang="en-US" sz="2400" b="1" dirty="0">
                <a:solidFill>
                  <a:srgbClr val="0B2E35"/>
                </a:solidFill>
                <a:latin typeface="Cambria" pitchFamily="34" charset="0"/>
                <a:ea typeface="Cambria" pitchFamily="34" charset="-122"/>
                <a:cs typeface="Cambria" pitchFamily="34" charset="-120"/>
              </a:rPr>
              <a:t>Sense</a:t>
            </a:r>
            <a:endParaRPr lang="en-US" sz="2400" dirty="0"/>
          </a:p>
        </p:txBody>
      </p:sp>
      <p:sp>
        <p:nvSpPr>
          <p:cNvPr id="8" name="Text 4"/>
          <p:cNvSpPr txBox="1"/>
          <p:nvPr/>
        </p:nvSpPr>
        <p:spPr>
          <a:xfrm>
            <a:off x="5257800" y="1901952"/>
            <a:ext cx="6126480" cy="731520"/>
          </a:xfrm>
          <a:prstGeom prst="rect">
            <a:avLst/>
          </a:prstGeom>
          <a:noFill/>
          <a:ln/>
        </p:spPr>
        <p:txBody>
          <a:bodyPr wrap="square" lIns="0" tIns="0" rIns="0" bIns="0" rtlCol="0" anchor="t"/>
          <a:lstStyle/>
          <a:p>
            <a:pPr indent="0" marL="0">
              <a:buNone/>
            </a:pPr>
            <a:r>
              <a:rPr lang="en-US" sz="1600" dirty="0">
                <a:solidFill>
                  <a:srgbClr val="3C5A60"/>
                </a:solidFill>
                <a:latin typeface="Calibri" pitchFamily="34" charset="0"/>
                <a:ea typeface="Calibri" pitchFamily="34" charset="-122"/>
                <a:cs typeface="Calibri" pitchFamily="34" charset="-120"/>
              </a:rPr>
              <a:t>Six pressure zones sit under high-risk sites: big toe, lesser toes, first and outer metatarsal heads, midfoot and heel.</a:t>
            </a:r>
            <a:endParaRPr lang="en-US" sz="1600" dirty="0"/>
          </a:p>
        </p:txBody>
      </p:sp>
      <p:sp>
        <p:nvSpPr>
          <p:cNvPr id="9" name="Shape 5"/>
          <p:cNvSpPr/>
          <p:nvPr/>
        </p:nvSpPr>
        <p:spPr>
          <a:xfrm>
            <a:off x="4343400" y="2834640"/>
            <a:ext cx="658368" cy="658368"/>
          </a:xfrm>
          <a:prstGeom prst="ellipse">
            <a:avLst/>
          </a:prstGeom>
          <a:solidFill>
            <a:srgbClr val="1A535E"/>
          </a:solidFill>
          <a:ln w="12700">
            <a:solidFill>
              <a:srgbClr val="1A535E"/>
            </a:solidFill>
            <a:prstDash val="solid"/>
          </a:ln>
        </p:spPr>
      </p:sp>
      <p:pic>
        <p:nvPicPr>
          <p:cNvPr id="10" name="Image 2" descr="time icon">    </p:cNvPr>
          <p:cNvPicPr>
            <a:picLocks noChangeAspect="1"/>
          </p:cNvPicPr>
          <p:nvPr/>
        </p:nvPicPr>
        <p:blipFill>
          <a:blip r:embed="rId3"/>
          <a:stretch>
            <a:fillRect/>
          </a:stretch>
        </p:blipFill>
        <p:spPr>
          <a:xfrm>
            <a:off x="4494825" y="2986065"/>
            <a:ext cx="355519" cy="355519"/>
          </a:xfrm>
          <a:prstGeom prst="rect">
            <a:avLst/>
          </a:prstGeom>
        </p:spPr>
      </p:pic>
      <p:sp>
        <p:nvSpPr>
          <p:cNvPr id="11" name="Text 6"/>
          <p:cNvSpPr txBox="1"/>
          <p:nvPr/>
        </p:nvSpPr>
        <p:spPr>
          <a:xfrm>
            <a:off x="5257800" y="2816352"/>
            <a:ext cx="5943600" cy="411480"/>
          </a:xfrm>
          <a:prstGeom prst="rect">
            <a:avLst/>
          </a:prstGeom>
          <a:noFill/>
          <a:ln/>
        </p:spPr>
        <p:txBody>
          <a:bodyPr wrap="square" lIns="0" tIns="0" rIns="0" bIns="0" rtlCol="0" anchor="t"/>
          <a:lstStyle/>
          <a:p>
            <a:pPr indent="0" marL="0">
              <a:buNone/>
            </a:pPr>
            <a:r>
              <a:rPr lang="en-US" sz="2400" b="1" dirty="0">
                <a:solidFill>
                  <a:srgbClr val="0B2E35"/>
                </a:solidFill>
                <a:latin typeface="Cambria" pitchFamily="34" charset="0"/>
                <a:ea typeface="Cambria" pitchFamily="34" charset="-122"/>
                <a:cs typeface="Cambria" pitchFamily="34" charset="-120"/>
              </a:rPr>
              <a:t>Time</a:t>
            </a:r>
            <a:endParaRPr lang="en-US" sz="2400" dirty="0"/>
          </a:p>
        </p:txBody>
      </p:sp>
      <p:sp>
        <p:nvSpPr>
          <p:cNvPr id="12" name="Text 7"/>
          <p:cNvSpPr txBox="1"/>
          <p:nvPr/>
        </p:nvSpPr>
        <p:spPr>
          <a:xfrm>
            <a:off x="5257800" y="3273552"/>
            <a:ext cx="6126480" cy="731520"/>
          </a:xfrm>
          <a:prstGeom prst="rect">
            <a:avLst/>
          </a:prstGeom>
          <a:noFill/>
          <a:ln/>
        </p:spPr>
        <p:txBody>
          <a:bodyPr wrap="square" lIns="0" tIns="0" rIns="0" bIns="0" rtlCol="0" anchor="t"/>
          <a:lstStyle/>
          <a:p>
            <a:pPr indent="0" marL="0">
              <a:buNone/>
            </a:pPr>
            <a:r>
              <a:rPr lang="en-US" sz="1600" dirty="0">
                <a:solidFill>
                  <a:srgbClr val="3C5A60"/>
                </a:solidFill>
                <a:latin typeface="Calibri" pitchFamily="34" charset="0"/>
                <a:ea typeface="Calibri" pitchFamily="34" charset="-122"/>
                <a:cs typeface="Calibri" pitchFamily="34" charset="-120"/>
              </a:rPr>
              <a:t>Each zone runs its own clock while it stays loaded. Lifting it for half a second resets that clock.</a:t>
            </a:r>
            <a:endParaRPr lang="en-US" sz="1600" dirty="0"/>
          </a:p>
        </p:txBody>
      </p:sp>
      <p:sp>
        <p:nvSpPr>
          <p:cNvPr id="13" name="Shape 8"/>
          <p:cNvSpPr/>
          <p:nvPr/>
        </p:nvSpPr>
        <p:spPr>
          <a:xfrm>
            <a:off x="4343400" y="4206240"/>
            <a:ext cx="658368" cy="658368"/>
          </a:xfrm>
          <a:prstGeom prst="ellipse">
            <a:avLst/>
          </a:prstGeom>
          <a:solidFill>
            <a:srgbClr val="D9722F"/>
          </a:solidFill>
          <a:ln w="12700">
            <a:solidFill>
              <a:srgbClr val="D9722F"/>
            </a:solidFill>
            <a:prstDash val="solid"/>
          </a:ln>
        </p:spPr>
      </p:sp>
      <p:pic>
        <p:nvPicPr>
          <p:cNvPr id="14" name="Image 3" descr="buzz icon">    </p:cNvPr>
          <p:cNvPicPr>
            <a:picLocks noChangeAspect="1"/>
          </p:cNvPicPr>
          <p:nvPr/>
        </p:nvPicPr>
        <p:blipFill>
          <a:blip r:embed="rId4"/>
          <a:stretch>
            <a:fillRect/>
          </a:stretch>
        </p:blipFill>
        <p:spPr>
          <a:xfrm>
            <a:off x="4494825" y="4357665"/>
            <a:ext cx="355519" cy="355519"/>
          </a:xfrm>
          <a:prstGeom prst="rect">
            <a:avLst/>
          </a:prstGeom>
        </p:spPr>
      </p:pic>
      <p:sp>
        <p:nvSpPr>
          <p:cNvPr id="15" name="Text 9"/>
          <p:cNvSpPr txBox="1"/>
          <p:nvPr/>
        </p:nvSpPr>
        <p:spPr>
          <a:xfrm>
            <a:off x="5257800" y="4187952"/>
            <a:ext cx="5943600" cy="411480"/>
          </a:xfrm>
          <a:prstGeom prst="rect">
            <a:avLst/>
          </a:prstGeom>
          <a:noFill/>
          <a:ln/>
        </p:spPr>
        <p:txBody>
          <a:bodyPr wrap="square" lIns="0" tIns="0" rIns="0" bIns="0" rtlCol="0" anchor="t"/>
          <a:lstStyle/>
          <a:p>
            <a:pPr indent="0" marL="0">
              <a:buNone/>
            </a:pPr>
            <a:r>
              <a:rPr lang="en-US" sz="2400" b="1" dirty="0">
                <a:solidFill>
                  <a:srgbClr val="0B2E35"/>
                </a:solidFill>
                <a:latin typeface="Cambria" pitchFamily="34" charset="0"/>
                <a:ea typeface="Cambria" pitchFamily="34" charset="-122"/>
                <a:cs typeface="Cambria" pitchFamily="34" charset="-120"/>
              </a:rPr>
              <a:t>Warn</a:t>
            </a:r>
            <a:endParaRPr lang="en-US" sz="2400" dirty="0"/>
          </a:p>
        </p:txBody>
      </p:sp>
      <p:sp>
        <p:nvSpPr>
          <p:cNvPr id="16" name="Text 10"/>
          <p:cNvSpPr txBox="1"/>
          <p:nvPr/>
        </p:nvSpPr>
        <p:spPr>
          <a:xfrm>
            <a:off x="5257800" y="4645152"/>
            <a:ext cx="6126480" cy="731520"/>
          </a:xfrm>
          <a:prstGeom prst="rect">
            <a:avLst/>
          </a:prstGeom>
          <a:noFill/>
          <a:ln/>
        </p:spPr>
        <p:txBody>
          <a:bodyPr wrap="square" lIns="0" tIns="0" rIns="0" bIns="0" rtlCol="0" anchor="t"/>
          <a:lstStyle/>
          <a:p>
            <a:pPr indent="0" marL="0">
              <a:buNone/>
            </a:pPr>
            <a:r>
              <a:rPr lang="en-US" sz="1600" dirty="0">
                <a:solidFill>
                  <a:srgbClr val="3C5A60"/>
                </a:solidFill>
                <a:latin typeface="Calibri" pitchFamily="34" charset="0"/>
                <a:ea typeface="Calibri" pitchFamily="34" charset="-122"/>
                <a:cs typeface="Calibri" pitchFamily="34" charset="-120"/>
              </a:rPr>
              <a:t>Past the limit, the device buzzes and the dashboard names the zone. Moving clears both.</a:t>
            </a:r>
            <a:endParaRPr lang="en-US" sz="1600" dirty="0"/>
          </a:p>
        </p:txBody>
      </p:sp>
      <p:sp>
        <p:nvSpPr>
          <p:cNvPr id="17" name="Shape 11"/>
          <p:cNvSpPr/>
          <p:nvPr/>
        </p:nvSpPr>
        <p:spPr>
          <a:xfrm>
            <a:off x="4343400" y="5532120"/>
            <a:ext cx="7296912" cy="685800"/>
          </a:xfrm>
          <a:prstGeom prst="roundRect">
            <a:avLst>
              <a:gd name="adj" fmla="val 16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8" name="Text 12"/>
          <p:cNvSpPr txBox="1"/>
          <p:nvPr/>
        </p:nvSpPr>
        <p:spPr>
          <a:xfrm>
            <a:off x="4617720" y="5733288"/>
            <a:ext cx="6858000" cy="320040"/>
          </a:xfrm>
          <a:prstGeom prst="rect">
            <a:avLst/>
          </a:prstGeom>
          <a:noFill/>
          <a:ln/>
        </p:spPr>
        <p:txBody>
          <a:bodyPr wrap="square" lIns="0" tIns="0" rIns="0" bIns="0" rtlCol="0" anchor="ctr"/>
          <a:lstStyle/>
          <a:p>
            <a:pPr indent="0" marL="0">
              <a:buNone/>
            </a:pPr>
            <a:r>
              <a:rPr lang="en-US" sz="1500" b="1" dirty="0">
                <a:solidFill>
                  <a:srgbClr val="0B2E35"/>
                </a:solidFill>
                <a:latin typeface="Calibri" pitchFamily="34" charset="0"/>
                <a:ea typeface="Calibri" pitchFamily="34" charset="-122"/>
                <a:cs typeface="Calibri" pitchFamily="34" charset="-120"/>
              </a:rPr>
              <a:t>Limit  </a:t>
            </a:r>
            <a:pPr indent="0" marL="0">
              <a:buNone/>
            </a:pPr>
            <a:r>
              <a:rPr lang="en-US" sz="1500" dirty="0">
                <a:solidFill>
                  <a:srgbClr val="3C5A60"/>
                </a:solidFill>
                <a:latin typeface="Calibri" pitchFamily="34" charset="0"/>
                <a:ea typeface="Calibri" pitchFamily="34" charset="-122"/>
                <a:cs typeface="Calibri" pitchFamily="34" charset="-120"/>
              </a:rPr>
              <a:t>15 minutes in the product, 10 seconds in today's demo. Same timing rule.</a:t>
            </a:r>
            <a:endParaRPr lang="en-US" sz="1500" dirty="0"/>
          </a:p>
        </p:txBody>
      </p:sp>
      <p:sp>
        <p:nvSpPr>
          <p:cNvPr id="19" name="Text 13"/>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20" name="Text 14"/>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What is new in SPARSH</a:t>
            </a:r>
            <a:endParaRPr lang="en-US" sz="3400" dirty="0"/>
          </a:p>
        </p:txBody>
      </p:sp>
      <p:sp>
        <p:nvSpPr>
          <p:cNvPr id="3" name="Shape 1"/>
          <p:cNvSpPr/>
          <p:nvPr/>
        </p:nvSpPr>
        <p:spPr>
          <a:xfrm>
            <a:off x="548640" y="1371600"/>
            <a:ext cx="5394960" cy="2194560"/>
          </a:xfrm>
          <a:prstGeom prst="roundRect">
            <a:avLst>
              <a:gd name="adj" fmla="val 5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 name="Shape 2"/>
          <p:cNvSpPr/>
          <p:nvPr/>
        </p:nvSpPr>
        <p:spPr>
          <a:xfrm>
            <a:off x="868680" y="1691640"/>
            <a:ext cx="640080" cy="640080"/>
          </a:xfrm>
          <a:prstGeom prst="ellipse">
            <a:avLst/>
          </a:prstGeom>
          <a:solidFill>
            <a:srgbClr val="1A535E"/>
          </a:solidFill>
          <a:ln w="12700">
            <a:solidFill>
              <a:srgbClr val="1A535E"/>
            </a:solidFill>
            <a:prstDash val="solid"/>
          </a:ln>
        </p:spPr>
      </p:sp>
      <p:pic>
        <p:nvPicPr>
          <p:cNvPr id="5" name="Image 0" descr="time icon">    </p:cNvPr>
          <p:cNvPicPr>
            <a:picLocks noChangeAspect="1"/>
          </p:cNvPicPr>
          <p:nvPr/>
        </p:nvPicPr>
        <p:blipFill>
          <a:blip r:embed="rId1"/>
          <a:stretch>
            <a:fillRect/>
          </a:stretch>
        </p:blipFill>
        <p:spPr>
          <a:xfrm>
            <a:off x="1015898" y="1838858"/>
            <a:ext cx="345643" cy="345643"/>
          </a:xfrm>
          <a:prstGeom prst="rect">
            <a:avLst/>
          </a:prstGeom>
        </p:spPr>
      </p:pic>
      <p:sp>
        <p:nvSpPr>
          <p:cNvPr id="6" name="Text 3"/>
          <p:cNvSpPr txBox="1"/>
          <p:nvPr/>
        </p:nvSpPr>
        <p:spPr>
          <a:xfrm>
            <a:off x="1737360" y="1673352"/>
            <a:ext cx="39776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Load time, not peak pressure</a:t>
            </a:r>
            <a:endParaRPr lang="en-US" sz="2000" dirty="0"/>
          </a:p>
        </p:txBody>
      </p:sp>
      <p:sp>
        <p:nvSpPr>
          <p:cNvPr id="7" name="Text 4"/>
          <p:cNvSpPr txBox="1"/>
          <p:nvPr/>
        </p:nvSpPr>
        <p:spPr>
          <a:xfrm>
            <a:off x="1737360" y="2148840"/>
            <a:ext cx="3977640" cy="868680"/>
          </a:xfrm>
          <a:prstGeom prst="rect">
            <a:avLst/>
          </a:prstGeom>
          <a:noFill/>
          <a:ln/>
        </p:spPr>
        <p:txBody>
          <a:bodyPr wrap="square" lIns="0" tIns="0" rIns="0" bIns="0" rtlCol="0" anchor="t"/>
          <a:lstStyle/>
          <a:p>
            <a:pPr indent="0" marL="0">
              <a:buNone/>
            </a:pPr>
            <a:r>
              <a:rPr lang="en-US" sz="1500" dirty="0">
                <a:solidFill>
                  <a:srgbClr val="3C5A60"/>
                </a:solidFill>
                <a:latin typeface="Calibri" pitchFamily="34" charset="0"/>
                <a:ea typeface="Calibri" pitchFamily="34" charset="-122"/>
                <a:cs typeface="Calibri" pitchFamily="34" charset="-120"/>
              </a:rPr>
              <a:t>Everyone's pressure spikes when they walk. Damage comes from load that never moves, so SPARSH times each zone.</a:t>
            </a:r>
            <a:endParaRPr lang="en-US" sz="1500" dirty="0"/>
          </a:p>
        </p:txBody>
      </p:sp>
      <p:sp>
        <p:nvSpPr>
          <p:cNvPr id="8" name="Text 5"/>
          <p:cNvSpPr/>
          <p:nvPr/>
        </p:nvSpPr>
        <p:spPr>
          <a:xfrm>
            <a:off x="1737360" y="3090672"/>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9" name="Shape 6"/>
          <p:cNvSpPr/>
          <p:nvPr/>
        </p:nvSpPr>
        <p:spPr>
          <a:xfrm>
            <a:off x="6245352" y="1371600"/>
            <a:ext cx="5394960" cy="2194560"/>
          </a:xfrm>
          <a:prstGeom prst="roundRect">
            <a:avLst>
              <a:gd name="adj" fmla="val 5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0" name="Shape 7"/>
          <p:cNvSpPr/>
          <p:nvPr/>
        </p:nvSpPr>
        <p:spPr>
          <a:xfrm>
            <a:off x="6565392" y="1691640"/>
            <a:ext cx="640080" cy="640080"/>
          </a:xfrm>
          <a:prstGeom prst="ellipse">
            <a:avLst/>
          </a:prstGeom>
          <a:solidFill>
            <a:srgbClr val="1A535E"/>
          </a:solidFill>
          <a:ln w="12700">
            <a:solidFill>
              <a:srgbClr val="1A535E"/>
            </a:solidFill>
            <a:prstDash val="solid"/>
          </a:ln>
        </p:spPr>
      </p:sp>
      <p:pic>
        <p:nvPicPr>
          <p:cNvPr id="11" name="Image 1" descr="buzz icon">    </p:cNvPr>
          <p:cNvPicPr>
            <a:picLocks noChangeAspect="1"/>
          </p:cNvPicPr>
          <p:nvPr/>
        </p:nvPicPr>
        <p:blipFill>
          <a:blip r:embed="rId2"/>
          <a:stretch>
            <a:fillRect/>
          </a:stretch>
        </p:blipFill>
        <p:spPr>
          <a:xfrm>
            <a:off x="6712610" y="1838858"/>
            <a:ext cx="345643" cy="345643"/>
          </a:xfrm>
          <a:prstGeom prst="rect">
            <a:avLst/>
          </a:prstGeom>
        </p:spPr>
      </p:pic>
      <p:sp>
        <p:nvSpPr>
          <p:cNvPr id="12" name="Text 8"/>
          <p:cNvSpPr txBox="1"/>
          <p:nvPr/>
        </p:nvSpPr>
        <p:spPr>
          <a:xfrm>
            <a:off x="7434072" y="1673352"/>
            <a:ext cx="39776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The warning needs no screen</a:t>
            </a:r>
            <a:endParaRPr lang="en-US" sz="2000" dirty="0"/>
          </a:p>
        </p:txBody>
      </p:sp>
      <p:sp>
        <p:nvSpPr>
          <p:cNvPr id="13" name="Text 9"/>
          <p:cNvSpPr txBox="1"/>
          <p:nvPr/>
        </p:nvSpPr>
        <p:spPr>
          <a:xfrm>
            <a:off x="7434072" y="2148840"/>
            <a:ext cx="3977640" cy="868680"/>
          </a:xfrm>
          <a:prstGeom prst="rect">
            <a:avLst/>
          </a:prstGeom>
          <a:noFill/>
          <a:ln/>
        </p:spPr>
        <p:txBody>
          <a:bodyPr wrap="square" lIns="0" tIns="0" rIns="0" bIns="0" rtlCol="0" anchor="t"/>
          <a:lstStyle/>
          <a:p>
            <a:pPr indent="0" marL="0">
              <a:buNone/>
            </a:pPr>
            <a:r>
              <a:rPr lang="en-US" sz="1500" dirty="0">
                <a:solidFill>
                  <a:srgbClr val="3C5A60"/>
                </a:solidFill>
                <a:latin typeface="Calibri" pitchFamily="34" charset="0"/>
                <a:ea typeface="Calibri" pitchFamily="34" charset="-122"/>
                <a:cs typeface="Calibri" pitchFamily="34" charset="-120"/>
              </a:rPr>
              <a:t>The device buzzes by itself. No phone, watch or app is needed to receive the alert.</a:t>
            </a:r>
            <a:endParaRPr lang="en-US" sz="1500" dirty="0"/>
          </a:p>
        </p:txBody>
      </p:sp>
      <p:sp>
        <p:nvSpPr>
          <p:cNvPr id="14" name="Text 10"/>
          <p:cNvSpPr/>
          <p:nvPr/>
        </p:nvSpPr>
        <p:spPr>
          <a:xfrm>
            <a:off x="7434072" y="3090672"/>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15" name="Shape 11"/>
          <p:cNvSpPr/>
          <p:nvPr/>
        </p:nvSpPr>
        <p:spPr>
          <a:xfrm>
            <a:off x="548640" y="3794760"/>
            <a:ext cx="5394960" cy="2194560"/>
          </a:xfrm>
          <a:prstGeom prst="roundRect">
            <a:avLst>
              <a:gd name="adj" fmla="val 5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6" name="Shape 12"/>
          <p:cNvSpPr/>
          <p:nvPr/>
        </p:nvSpPr>
        <p:spPr>
          <a:xfrm>
            <a:off x="868680" y="4114800"/>
            <a:ext cx="640080" cy="640080"/>
          </a:xfrm>
          <a:prstGeom prst="ellipse">
            <a:avLst/>
          </a:prstGeom>
          <a:solidFill>
            <a:srgbClr val="1A535E"/>
          </a:solidFill>
          <a:ln w="12700">
            <a:solidFill>
              <a:srgbClr val="1A535E"/>
            </a:solidFill>
            <a:prstDash val="solid"/>
          </a:ln>
        </p:spPr>
      </p:sp>
      <p:pic>
        <p:nvPicPr>
          <p:cNvPr id="17" name="Image 2" descr="chip icon">    </p:cNvPr>
          <p:cNvPicPr>
            <a:picLocks noChangeAspect="1"/>
          </p:cNvPicPr>
          <p:nvPr/>
        </p:nvPicPr>
        <p:blipFill>
          <a:blip r:embed="rId3"/>
          <a:stretch>
            <a:fillRect/>
          </a:stretch>
        </p:blipFill>
        <p:spPr>
          <a:xfrm>
            <a:off x="1015898" y="4262018"/>
            <a:ext cx="345643" cy="345643"/>
          </a:xfrm>
          <a:prstGeom prst="rect">
            <a:avLst/>
          </a:prstGeom>
        </p:spPr>
      </p:pic>
      <p:sp>
        <p:nvSpPr>
          <p:cNvPr id="18" name="Text 13"/>
          <p:cNvSpPr txBox="1"/>
          <p:nvPr/>
        </p:nvSpPr>
        <p:spPr>
          <a:xfrm>
            <a:off x="1737360" y="4096512"/>
            <a:ext cx="39776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Six zones on one analog pin</a:t>
            </a:r>
            <a:endParaRPr lang="en-US" sz="2000" dirty="0"/>
          </a:p>
        </p:txBody>
      </p:sp>
      <p:sp>
        <p:nvSpPr>
          <p:cNvPr id="19" name="Text 14"/>
          <p:cNvSpPr txBox="1"/>
          <p:nvPr/>
        </p:nvSpPr>
        <p:spPr>
          <a:xfrm>
            <a:off x="1737360" y="4572000"/>
            <a:ext cx="3977640" cy="868680"/>
          </a:xfrm>
          <a:prstGeom prst="rect">
            <a:avLst/>
          </a:prstGeom>
          <a:noFill/>
          <a:ln/>
        </p:spPr>
        <p:txBody>
          <a:bodyPr wrap="square" lIns="0" tIns="0" rIns="0" bIns="0" rtlCol="0" anchor="t"/>
          <a:lstStyle/>
          <a:p>
            <a:pPr indent="0" marL="0">
              <a:buNone/>
            </a:pPr>
            <a:r>
              <a:rPr lang="en-US" sz="1500" dirty="0">
                <a:solidFill>
                  <a:srgbClr val="3C5A60"/>
                </a:solidFill>
                <a:latin typeface="Calibri" pitchFamily="34" charset="0"/>
                <a:ea typeface="Calibri" pitchFamily="34" charset="-122"/>
                <a:cs typeface="Calibri" pitchFamily="34" charset="-120"/>
              </a:rPr>
              <a:t>Each zone is powered in turn and read on a shared line: one ADC channel and no multiplexer.</a:t>
            </a:r>
            <a:endParaRPr lang="en-US" sz="1500" dirty="0"/>
          </a:p>
        </p:txBody>
      </p:sp>
      <p:sp>
        <p:nvSpPr>
          <p:cNvPr id="20" name="Text 15"/>
          <p:cNvSpPr/>
          <p:nvPr/>
        </p:nvSpPr>
        <p:spPr>
          <a:xfrm>
            <a:off x="1737360" y="5513832"/>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21" name="Shape 16"/>
          <p:cNvSpPr/>
          <p:nvPr/>
        </p:nvSpPr>
        <p:spPr>
          <a:xfrm>
            <a:off x="6245352" y="3794760"/>
            <a:ext cx="5394960" cy="2194560"/>
          </a:xfrm>
          <a:prstGeom prst="roundRect">
            <a:avLst>
              <a:gd name="adj" fmla="val 5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2" name="Shape 17"/>
          <p:cNvSpPr/>
          <p:nvPr/>
        </p:nvSpPr>
        <p:spPr>
          <a:xfrm>
            <a:off x="6565392" y="4114800"/>
            <a:ext cx="640080" cy="640080"/>
          </a:xfrm>
          <a:prstGeom prst="ellipse">
            <a:avLst/>
          </a:prstGeom>
          <a:solidFill>
            <a:srgbClr val="1A535E"/>
          </a:solidFill>
          <a:ln w="12700">
            <a:solidFill>
              <a:srgbClr val="1A535E"/>
            </a:solidFill>
            <a:prstDash val="solid"/>
          </a:ln>
        </p:spPr>
      </p:sp>
      <p:pic>
        <p:nvPicPr>
          <p:cNvPr id="23" name="Image 3" descr="sync icon">    </p:cNvPr>
          <p:cNvPicPr>
            <a:picLocks noChangeAspect="1"/>
          </p:cNvPicPr>
          <p:nvPr/>
        </p:nvPicPr>
        <p:blipFill>
          <a:blip r:embed="rId4"/>
          <a:stretch>
            <a:fillRect/>
          </a:stretch>
        </p:blipFill>
        <p:spPr>
          <a:xfrm>
            <a:off x="6712610" y="4262018"/>
            <a:ext cx="345643" cy="345643"/>
          </a:xfrm>
          <a:prstGeom prst="rect">
            <a:avLst/>
          </a:prstGeom>
        </p:spPr>
      </p:pic>
      <p:sp>
        <p:nvSpPr>
          <p:cNvPr id="24" name="Text 18"/>
          <p:cNvSpPr txBox="1"/>
          <p:nvPr/>
        </p:nvSpPr>
        <p:spPr>
          <a:xfrm>
            <a:off x="7434072" y="4096512"/>
            <a:ext cx="39776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The device keeps the only clock</a:t>
            </a:r>
            <a:endParaRPr lang="en-US" sz="2000" dirty="0"/>
          </a:p>
        </p:txBody>
      </p:sp>
      <p:sp>
        <p:nvSpPr>
          <p:cNvPr id="25" name="Text 19"/>
          <p:cNvSpPr txBox="1"/>
          <p:nvPr/>
        </p:nvSpPr>
        <p:spPr>
          <a:xfrm>
            <a:off x="7434072" y="4572000"/>
            <a:ext cx="3977640" cy="868680"/>
          </a:xfrm>
          <a:prstGeom prst="rect">
            <a:avLst/>
          </a:prstGeom>
          <a:noFill/>
          <a:ln/>
        </p:spPr>
        <p:txBody>
          <a:bodyPr wrap="square" lIns="0" tIns="0" rIns="0" bIns="0" rtlCol="0" anchor="t"/>
          <a:lstStyle/>
          <a:p>
            <a:pPr indent="0" marL="0">
              <a:buNone/>
            </a:pPr>
            <a:r>
              <a:rPr lang="en-US" sz="1500" dirty="0">
                <a:solidFill>
                  <a:srgbClr val="3C5A60"/>
                </a:solidFill>
                <a:latin typeface="Calibri" pitchFamily="34" charset="0"/>
                <a:ea typeface="Calibri" pitchFamily="34" charset="-122"/>
                <a:cs typeface="Calibri" pitchFamily="34" charset="-120"/>
              </a:rPr>
              <a:t>The dashboard shows the firmware's own timers, so the screen and the buzz cannot disagree.</a:t>
            </a:r>
            <a:endParaRPr lang="en-US" sz="1500" dirty="0"/>
          </a:p>
        </p:txBody>
      </p:sp>
      <p:sp>
        <p:nvSpPr>
          <p:cNvPr id="26" name="Text 20"/>
          <p:cNvSpPr/>
          <p:nvPr/>
        </p:nvSpPr>
        <p:spPr>
          <a:xfrm>
            <a:off x="7434072" y="5513832"/>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27" name="Text 21"/>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28" name="Text 22"/>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Architecture and tech stack</a:t>
            </a:r>
            <a:endParaRPr lang="en-US" sz="3400" dirty="0"/>
          </a:p>
        </p:txBody>
      </p:sp>
      <p:sp>
        <p:nvSpPr>
          <p:cNvPr id="3" name="Shape 1"/>
          <p:cNvSpPr/>
          <p:nvPr/>
        </p:nvSpPr>
        <p:spPr>
          <a:xfrm>
            <a:off x="548640" y="1371600"/>
            <a:ext cx="2286000" cy="1417320"/>
          </a:xfrm>
          <a:prstGeom prst="roundRect">
            <a:avLst>
              <a:gd name="adj" fmla="val 7742"/>
            </a:avLst>
          </a:prstGeom>
          <a:solidFill>
            <a:srgbClr val="1A535E"/>
          </a:solidFill>
          <a:ln w="9525">
            <a:solidFill>
              <a:srgbClr val="1A535E"/>
            </a:solidFill>
            <a:prstDash val="solid"/>
          </a:ln>
          <a:effectLst>
            <a:outerShdw sx="100000" sy="100000" kx="0" ky="0" algn="bl" rotWithShape="0" blurRad="127000" dist="25400" dir="5400000">
              <a:srgbClr val="0B2E35">
                <a:alpha val="10000"/>
              </a:srgbClr>
            </a:outerShdw>
          </a:effectLst>
        </p:spPr>
      </p:sp>
      <p:sp>
        <p:nvSpPr>
          <p:cNvPr id="4" name="Text 2"/>
          <p:cNvSpPr txBox="1"/>
          <p:nvPr/>
        </p:nvSpPr>
        <p:spPr>
          <a:xfrm>
            <a:off x="777240" y="1554480"/>
            <a:ext cx="1828800" cy="365760"/>
          </a:xfrm>
          <a:prstGeom prst="rect">
            <a:avLst/>
          </a:prstGeom>
          <a:noFill/>
          <a:ln/>
        </p:spPr>
        <p:txBody>
          <a:bodyPr wrap="square" lIns="0" tIns="0" rIns="0" bIns="0" rtlCol="0" anchor="t"/>
          <a:lstStyle/>
          <a:p>
            <a:pPr indent="0" marL="0">
              <a:buNone/>
            </a:pPr>
            <a:r>
              <a:rPr lang="en-US" sz="1900" b="1" dirty="0">
                <a:solidFill>
                  <a:srgbClr val="F2F5F4"/>
                </a:solidFill>
                <a:latin typeface="Cambria" pitchFamily="34" charset="0"/>
                <a:ea typeface="Cambria" pitchFamily="34" charset="-122"/>
                <a:cs typeface="Cambria" pitchFamily="34" charset="-120"/>
              </a:rPr>
              <a:t>Insole</a:t>
            </a:r>
            <a:endParaRPr lang="en-US" sz="1900" dirty="0"/>
          </a:p>
        </p:txBody>
      </p:sp>
      <p:sp>
        <p:nvSpPr>
          <p:cNvPr id="5" name="Text 3"/>
          <p:cNvSpPr txBox="1"/>
          <p:nvPr/>
        </p:nvSpPr>
        <p:spPr>
          <a:xfrm>
            <a:off x="777240" y="1965960"/>
            <a:ext cx="1828800" cy="685800"/>
          </a:xfrm>
          <a:prstGeom prst="rect">
            <a:avLst/>
          </a:prstGeom>
          <a:noFill/>
          <a:ln/>
        </p:spPr>
        <p:txBody>
          <a:bodyPr wrap="square" lIns="0" tIns="0" rIns="0" bIns="0" rtlCol="0" anchor="t"/>
          <a:lstStyle/>
          <a:p>
            <a:pPr indent="0" marL="0">
              <a:buNone/>
            </a:pPr>
            <a:r>
              <a:rPr lang="en-US" sz="1350" dirty="0">
                <a:solidFill>
                  <a:srgbClr val="A7C4C9"/>
                </a:solidFill>
                <a:latin typeface="Calibri" pitchFamily="34" charset="0"/>
                <a:ea typeface="Calibri" pitchFamily="34" charset="-122"/>
                <a:cs typeface="Calibri" pitchFamily="34" charset="-120"/>
              </a:rPr>
              <a:t>Six pressure zones at high-risk sites</a:t>
            </a:r>
            <a:endParaRPr lang="en-US" sz="1350" dirty="0"/>
          </a:p>
        </p:txBody>
      </p:sp>
      <p:sp>
        <p:nvSpPr>
          <p:cNvPr id="6" name="Shape 4"/>
          <p:cNvSpPr/>
          <p:nvPr/>
        </p:nvSpPr>
        <p:spPr>
          <a:xfrm>
            <a:off x="3246120" y="1371600"/>
            <a:ext cx="2697480" cy="1417320"/>
          </a:xfrm>
          <a:prstGeom prst="roundRect">
            <a:avLst>
              <a:gd name="adj" fmla="val 7742"/>
            </a:avLst>
          </a:prstGeom>
          <a:solidFill>
            <a:srgbClr val="1A535E"/>
          </a:solidFill>
          <a:ln w="9525">
            <a:solidFill>
              <a:srgbClr val="1A535E"/>
            </a:solidFill>
            <a:prstDash val="solid"/>
          </a:ln>
          <a:effectLst>
            <a:outerShdw sx="100000" sy="100000" kx="0" ky="0" algn="bl" rotWithShape="0" blurRad="127000" dist="25400" dir="5400000">
              <a:srgbClr val="0B2E35">
                <a:alpha val="10000"/>
              </a:srgbClr>
            </a:outerShdw>
          </a:effectLst>
        </p:spPr>
      </p:sp>
      <p:sp>
        <p:nvSpPr>
          <p:cNvPr id="7" name="Text 5"/>
          <p:cNvSpPr txBox="1"/>
          <p:nvPr/>
        </p:nvSpPr>
        <p:spPr>
          <a:xfrm>
            <a:off x="3474720" y="1554480"/>
            <a:ext cx="2240280" cy="365760"/>
          </a:xfrm>
          <a:prstGeom prst="rect">
            <a:avLst/>
          </a:prstGeom>
          <a:noFill/>
          <a:ln/>
        </p:spPr>
        <p:txBody>
          <a:bodyPr wrap="square" lIns="0" tIns="0" rIns="0" bIns="0" rtlCol="0" anchor="t"/>
          <a:lstStyle/>
          <a:p>
            <a:pPr indent="0" marL="0">
              <a:buNone/>
            </a:pPr>
            <a:r>
              <a:rPr lang="en-US" sz="1900" b="1" dirty="0">
                <a:solidFill>
                  <a:srgbClr val="F2F5F4"/>
                </a:solidFill>
                <a:latin typeface="Cambria" pitchFamily="34" charset="0"/>
                <a:ea typeface="Cambria" pitchFamily="34" charset="-122"/>
                <a:cs typeface="Cambria" pitchFamily="34" charset="-120"/>
              </a:rPr>
              <a:t>ESP32 device</a:t>
            </a:r>
            <a:endParaRPr lang="en-US" sz="1900" dirty="0"/>
          </a:p>
        </p:txBody>
      </p:sp>
      <p:sp>
        <p:nvSpPr>
          <p:cNvPr id="8" name="Text 6"/>
          <p:cNvSpPr txBox="1"/>
          <p:nvPr/>
        </p:nvSpPr>
        <p:spPr>
          <a:xfrm>
            <a:off x="3474720" y="1965960"/>
            <a:ext cx="2240280" cy="685800"/>
          </a:xfrm>
          <a:prstGeom prst="rect">
            <a:avLst/>
          </a:prstGeom>
          <a:noFill/>
          <a:ln/>
        </p:spPr>
        <p:txBody>
          <a:bodyPr wrap="square" lIns="0" tIns="0" rIns="0" bIns="0" rtlCol="0" anchor="t"/>
          <a:lstStyle/>
          <a:p>
            <a:pPr indent="0" marL="0">
              <a:buNone/>
            </a:pPr>
            <a:r>
              <a:rPr lang="en-US" sz="1350" dirty="0">
                <a:solidFill>
                  <a:srgbClr val="A7C4C9"/>
                </a:solidFill>
                <a:latin typeface="Calibri" pitchFamily="34" charset="0"/>
                <a:ea typeface="Calibri" pitchFamily="34" charset="-122"/>
                <a:cs typeface="Calibri" pitchFamily="34" charset="-120"/>
              </a:rPr>
              <a:t>Scans zones, runs the timers, drives the buzzer</a:t>
            </a:r>
            <a:endParaRPr lang="en-US" sz="1350" dirty="0"/>
          </a:p>
        </p:txBody>
      </p:sp>
      <p:sp>
        <p:nvSpPr>
          <p:cNvPr id="9" name="Shape 7"/>
          <p:cNvSpPr/>
          <p:nvPr/>
        </p:nvSpPr>
        <p:spPr>
          <a:xfrm>
            <a:off x="6355080" y="1371600"/>
            <a:ext cx="2514600" cy="1417320"/>
          </a:xfrm>
          <a:prstGeom prst="roundRect">
            <a:avLst>
              <a:gd name="adj" fmla="val 7742"/>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0" name="Text 8"/>
          <p:cNvSpPr txBox="1"/>
          <p:nvPr/>
        </p:nvSpPr>
        <p:spPr>
          <a:xfrm>
            <a:off x="6583680" y="1554480"/>
            <a:ext cx="2057400" cy="365760"/>
          </a:xfrm>
          <a:prstGeom prst="rect">
            <a:avLst/>
          </a:prstGeom>
          <a:noFill/>
          <a:ln/>
        </p:spPr>
        <p:txBody>
          <a:bodyPr wrap="square" lIns="0" tIns="0" rIns="0" bIns="0" rtlCol="0" anchor="t"/>
          <a:lstStyle/>
          <a:p>
            <a:pPr indent="0" marL="0">
              <a:buNone/>
            </a:pPr>
            <a:r>
              <a:rPr lang="en-US" sz="1900" b="1" dirty="0">
                <a:solidFill>
                  <a:srgbClr val="0B2E35"/>
                </a:solidFill>
                <a:latin typeface="Cambria" pitchFamily="34" charset="0"/>
                <a:ea typeface="Cambria" pitchFamily="34" charset="-122"/>
                <a:cs typeface="Cambria" pitchFamily="34" charset="-120"/>
              </a:rPr>
              <a:t>Laptop bridge</a:t>
            </a:r>
            <a:endParaRPr lang="en-US" sz="1900" dirty="0"/>
          </a:p>
        </p:txBody>
      </p:sp>
      <p:sp>
        <p:nvSpPr>
          <p:cNvPr id="11" name="Text 9"/>
          <p:cNvSpPr txBox="1"/>
          <p:nvPr/>
        </p:nvSpPr>
        <p:spPr>
          <a:xfrm>
            <a:off x="6583680" y="1965960"/>
            <a:ext cx="2057400" cy="685800"/>
          </a:xfrm>
          <a:prstGeom prst="rect">
            <a:avLst/>
          </a:prstGeom>
          <a:noFill/>
          <a:ln/>
        </p:spPr>
        <p:txBody>
          <a:bodyPr wrap="square" lIns="0" tIns="0" rIns="0" bIns="0" rtlCol="0" anchor="t"/>
          <a:lstStyle/>
          <a:p>
            <a:pPr indent="0" marL="0">
              <a:buNone/>
            </a:pPr>
            <a:r>
              <a:rPr lang="en-US" sz="1350" dirty="0">
                <a:solidFill>
                  <a:srgbClr val="3C5A60"/>
                </a:solidFill>
                <a:latin typeface="Calibri" pitchFamily="34" charset="0"/>
                <a:ea typeface="Calibri" pitchFamily="34" charset="-122"/>
                <a:cs typeface="Calibri" pitchFamily="34" charset="-120"/>
              </a:rPr>
              <a:t>Python 3: UDP in, live stream out</a:t>
            </a:r>
            <a:endParaRPr lang="en-US" sz="1350" dirty="0"/>
          </a:p>
        </p:txBody>
      </p:sp>
      <p:sp>
        <p:nvSpPr>
          <p:cNvPr id="12" name="Shape 10"/>
          <p:cNvSpPr/>
          <p:nvPr/>
        </p:nvSpPr>
        <p:spPr>
          <a:xfrm>
            <a:off x="9281160" y="1371600"/>
            <a:ext cx="2359152" cy="1417320"/>
          </a:xfrm>
          <a:prstGeom prst="roundRect">
            <a:avLst>
              <a:gd name="adj" fmla="val 7742"/>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3" name="Text 11"/>
          <p:cNvSpPr txBox="1"/>
          <p:nvPr/>
        </p:nvSpPr>
        <p:spPr>
          <a:xfrm>
            <a:off x="9509760" y="1554480"/>
            <a:ext cx="1901952" cy="365760"/>
          </a:xfrm>
          <a:prstGeom prst="rect">
            <a:avLst/>
          </a:prstGeom>
          <a:noFill/>
          <a:ln/>
        </p:spPr>
        <p:txBody>
          <a:bodyPr wrap="square" lIns="0" tIns="0" rIns="0" bIns="0" rtlCol="0" anchor="t"/>
          <a:lstStyle/>
          <a:p>
            <a:pPr indent="0" marL="0">
              <a:buNone/>
            </a:pPr>
            <a:r>
              <a:rPr lang="en-US" sz="1900" b="1" dirty="0">
                <a:solidFill>
                  <a:srgbClr val="0B2E35"/>
                </a:solidFill>
                <a:latin typeface="Cambria" pitchFamily="34" charset="0"/>
                <a:ea typeface="Cambria" pitchFamily="34" charset="-122"/>
                <a:cs typeface="Cambria" pitchFamily="34" charset="-120"/>
              </a:rPr>
              <a:t>Dashboard</a:t>
            </a:r>
            <a:endParaRPr lang="en-US" sz="1900" dirty="0"/>
          </a:p>
        </p:txBody>
      </p:sp>
      <p:sp>
        <p:nvSpPr>
          <p:cNvPr id="14" name="Text 12"/>
          <p:cNvSpPr txBox="1"/>
          <p:nvPr/>
        </p:nvSpPr>
        <p:spPr>
          <a:xfrm>
            <a:off x="9509760" y="1965960"/>
            <a:ext cx="1901952" cy="685800"/>
          </a:xfrm>
          <a:prstGeom prst="rect">
            <a:avLst/>
          </a:prstGeom>
          <a:noFill/>
          <a:ln/>
        </p:spPr>
        <p:txBody>
          <a:bodyPr wrap="square" lIns="0" tIns="0" rIns="0" bIns="0" rtlCol="0" anchor="t"/>
          <a:lstStyle/>
          <a:p>
            <a:pPr indent="0" marL="0">
              <a:buNone/>
            </a:pPr>
            <a:r>
              <a:rPr lang="en-US" sz="1350" dirty="0">
                <a:solidFill>
                  <a:srgbClr val="3C5A60"/>
                </a:solidFill>
                <a:latin typeface="Calibri" pitchFamily="34" charset="0"/>
                <a:ea typeface="Calibri" pitchFamily="34" charset="-122"/>
                <a:cs typeface="Calibri" pitchFamily="34" charset="-120"/>
              </a:rPr>
              <a:t>Any browser, nothing to install</a:t>
            </a:r>
            <a:endParaRPr lang="en-US" sz="1350" dirty="0"/>
          </a:p>
        </p:txBody>
      </p:sp>
      <p:sp>
        <p:nvSpPr>
          <p:cNvPr id="15" name="Shape 13"/>
          <p:cNvSpPr/>
          <p:nvPr/>
        </p:nvSpPr>
        <p:spPr>
          <a:xfrm>
            <a:off x="2871216" y="2084832"/>
            <a:ext cx="338328" cy="0"/>
          </a:xfrm>
          <a:prstGeom prst="line">
            <a:avLst/>
          </a:prstGeom>
          <a:noFill/>
          <a:ln w="25400">
            <a:solidFill>
              <a:srgbClr val="5C7C83"/>
            </a:solidFill>
            <a:prstDash val="solid"/>
            <a:tailEnd type="triangle"/>
          </a:ln>
        </p:spPr>
      </p:sp>
      <p:sp>
        <p:nvSpPr>
          <p:cNvPr id="16" name="Shape 14"/>
          <p:cNvSpPr/>
          <p:nvPr/>
        </p:nvSpPr>
        <p:spPr>
          <a:xfrm>
            <a:off x="5980176" y="2084832"/>
            <a:ext cx="338328" cy="0"/>
          </a:xfrm>
          <a:prstGeom prst="line">
            <a:avLst/>
          </a:prstGeom>
          <a:noFill/>
          <a:ln w="25400">
            <a:solidFill>
              <a:srgbClr val="5C7C83"/>
            </a:solidFill>
            <a:prstDash val="solid"/>
            <a:tailEnd type="triangle"/>
          </a:ln>
        </p:spPr>
      </p:sp>
      <p:sp>
        <p:nvSpPr>
          <p:cNvPr id="17" name="Shape 15"/>
          <p:cNvSpPr/>
          <p:nvPr/>
        </p:nvSpPr>
        <p:spPr>
          <a:xfrm>
            <a:off x="8906256" y="2084832"/>
            <a:ext cx="338328" cy="0"/>
          </a:xfrm>
          <a:prstGeom prst="line">
            <a:avLst/>
          </a:prstGeom>
          <a:noFill/>
          <a:ln w="25400">
            <a:solidFill>
              <a:srgbClr val="5C7C83"/>
            </a:solidFill>
            <a:prstDash val="solid"/>
            <a:tailEnd type="triangle"/>
          </a:ln>
        </p:spPr>
      </p:sp>
      <p:sp>
        <p:nvSpPr>
          <p:cNvPr id="18" name="Text 16"/>
          <p:cNvSpPr txBox="1"/>
          <p:nvPr/>
        </p:nvSpPr>
        <p:spPr>
          <a:xfrm>
            <a:off x="3246120" y="2926080"/>
            <a:ext cx="5623560" cy="274320"/>
          </a:xfrm>
          <a:prstGeom prst="rect">
            <a:avLst/>
          </a:prstGeom>
          <a:noFill/>
          <a:ln/>
        </p:spPr>
        <p:txBody>
          <a:bodyPr wrap="square" lIns="0" tIns="0" rIns="0" bIns="0" rtlCol="0" anchor="t"/>
          <a:lstStyle/>
          <a:p>
            <a:pPr algn="ctr" indent="0" marL="0">
              <a:buNone/>
            </a:pPr>
            <a:r>
              <a:rPr lang="en-US" sz="1200" i="1" dirty="0">
                <a:solidFill>
                  <a:srgbClr val="5C7C83"/>
                </a:solidFill>
                <a:latin typeface="Calibri" pitchFamily="34" charset="0"/>
                <a:ea typeface="Calibri" pitchFamily="34" charset="-122"/>
                <a:cs typeface="Calibri" pitchFamily="34" charset="-120"/>
              </a:rPr>
              <a:t>Wi-Fi UDP, port 4210: readings and load timers per zone, every 100 ms and on change</a:t>
            </a:r>
            <a:endParaRPr lang="en-US" sz="1200" dirty="0"/>
          </a:p>
        </p:txBody>
      </p:sp>
      <p:sp>
        <p:nvSpPr>
          <p:cNvPr id="19" name="Shape 17"/>
          <p:cNvSpPr/>
          <p:nvPr/>
        </p:nvSpPr>
        <p:spPr>
          <a:xfrm>
            <a:off x="548640" y="3520440"/>
            <a:ext cx="2651760" cy="2697480"/>
          </a:xfrm>
          <a:prstGeom prst="roundRect">
            <a:avLst>
              <a:gd name="adj" fmla="val 413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0" name="Text 18"/>
          <p:cNvSpPr txBox="1"/>
          <p:nvPr/>
        </p:nvSpPr>
        <p:spPr>
          <a:xfrm>
            <a:off x="777240" y="3703320"/>
            <a:ext cx="2240280" cy="365760"/>
          </a:xfrm>
          <a:prstGeom prst="rect">
            <a:avLst/>
          </a:prstGeom>
          <a:noFill/>
          <a:ln/>
        </p:spPr>
        <p:txBody>
          <a:bodyPr wrap="square" lIns="0" tIns="0" rIns="0" bIns="0" rtlCol="0" anchor="t"/>
          <a:lstStyle/>
          <a:p>
            <a:pPr indent="0" marL="0">
              <a:buNone/>
            </a:pPr>
            <a:r>
              <a:rPr lang="en-US" sz="1700" b="1" dirty="0">
                <a:solidFill>
                  <a:srgbClr val="0B2E35"/>
                </a:solidFill>
                <a:latin typeface="Cambria" pitchFamily="34" charset="0"/>
                <a:ea typeface="Cambria" pitchFamily="34" charset="-122"/>
                <a:cs typeface="Cambria" pitchFamily="34" charset="-120"/>
              </a:rPr>
              <a:t>Hardware</a:t>
            </a:r>
            <a:endParaRPr lang="en-US" sz="1700" dirty="0"/>
          </a:p>
        </p:txBody>
      </p:sp>
      <p:sp>
        <p:nvSpPr>
          <p:cNvPr id="21" name="Text 19"/>
          <p:cNvSpPr txBox="1"/>
          <p:nvPr/>
        </p:nvSpPr>
        <p:spPr>
          <a:xfrm>
            <a:off x="777240" y="4160520"/>
            <a:ext cx="22860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ESP32 DevKit with Wi-Fi</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12-bit ADC on GPIO34</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Six drive pins, one per zone</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Buzzer on GPIO27</a:t>
            </a:r>
            <a:endParaRPr lang="en-US" sz="1300" dirty="0"/>
          </a:p>
        </p:txBody>
      </p:sp>
      <p:sp>
        <p:nvSpPr>
          <p:cNvPr id="22" name="Shape 20"/>
          <p:cNvSpPr/>
          <p:nvPr/>
        </p:nvSpPr>
        <p:spPr>
          <a:xfrm>
            <a:off x="3383280" y="3520440"/>
            <a:ext cx="2651760" cy="2697480"/>
          </a:xfrm>
          <a:prstGeom prst="roundRect">
            <a:avLst>
              <a:gd name="adj" fmla="val 413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3" name="Text 21"/>
          <p:cNvSpPr txBox="1"/>
          <p:nvPr/>
        </p:nvSpPr>
        <p:spPr>
          <a:xfrm>
            <a:off x="3611880" y="3703320"/>
            <a:ext cx="2240280" cy="365760"/>
          </a:xfrm>
          <a:prstGeom prst="rect">
            <a:avLst/>
          </a:prstGeom>
          <a:noFill/>
          <a:ln/>
        </p:spPr>
        <p:txBody>
          <a:bodyPr wrap="square" lIns="0" tIns="0" rIns="0" bIns="0" rtlCol="0" anchor="t"/>
          <a:lstStyle/>
          <a:p>
            <a:pPr indent="0" marL="0">
              <a:buNone/>
            </a:pPr>
            <a:r>
              <a:rPr lang="en-US" sz="1700" b="1" dirty="0">
                <a:solidFill>
                  <a:srgbClr val="0B2E35"/>
                </a:solidFill>
                <a:latin typeface="Cambria" pitchFamily="34" charset="0"/>
                <a:ea typeface="Cambria" pitchFamily="34" charset="-122"/>
                <a:cs typeface="Cambria" pitchFamily="34" charset="-120"/>
              </a:rPr>
              <a:t>Firmware</a:t>
            </a:r>
            <a:endParaRPr lang="en-US" sz="1700" dirty="0"/>
          </a:p>
        </p:txBody>
      </p:sp>
      <p:sp>
        <p:nvSpPr>
          <p:cNvPr id="24" name="Text 22"/>
          <p:cNvSpPr txBox="1"/>
          <p:nvPr/>
        </p:nvSpPr>
        <p:spPr>
          <a:xfrm>
            <a:off x="3611880" y="4160520"/>
            <a:ext cx="22860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Arduino C++ on the ESP32 core</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One state machine per zone</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Bounded waits: it never freezes</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UDP broadcast</a:t>
            </a:r>
            <a:endParaRPr lang="en-US" sz="1300" dirty="0"/>
          </a:p>
        </p:txBody>
      </p:sp>
      <p:sp>
        <p:nvSpPr>
          <p:cNvPr id="25" name="Shape 23"/>
          <p:cNvSpPr/>
          <p:nvPr/>
        </p:nvSpPr>
        <p:spPr>
          <a:xfrm>
            <a:off x="6217920" y="3520440"/>
            <a:ext cx="2651760" cy="2697480"/>
          </a:xfrm>
          <a:prstGeom prst="roundRect">
            <a:avLst>
              <a:gd name="adj" fmla="val 413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6" name="Text 24"/>
          <p:cNvSpPr txBox="1"/>
          <p:nvPr/>
        </p:nvSpPr>
        <p:spPr>
          <a:xfrm>
            <a:off x="6446520" y="3703320"/>
            <a:ext cx="2240280" cy="365760"/>
          </a:xfrm>
          <a:prstGeom prst="rect">
            <a:avLst/>
          </a:prstGeom>
          <a:noFill/>
          <a:ln/>
        </p:spPr>
        <p:txBody>
          <a:bodyPr wrap="square" lIns="0" tIns="0" rIns="0" bIns="0" rtlCol="0" anchor="t"/>
          <a:lstStyle/>
          <a:p>
            <a:pPr indent="0" marL="0">
              <a:buNone/>
            </a:pPr>
            <a:r>
              <a:rPr lang="en-US" sz="1700" b="1" dirty="0">
                <a:solidFill>
                  <a:srgbClr val="0B2E35"/>
                </a:solidFill>
                <a:latin typeface="Cambria" pitchFamily="34" charset="0"/>
                <a:ea typeface="Cambria" pitchFamily="34" charset="-122"/>
                <a:cs typeface="Cambria" pitchFamily="34" charset="-120"/>
              </a:rPr>
              <a:t>Software</a:t>
            </a:r>
            <a:endParaRPr lang="en-US" sz="1700" dirty="0"/>
          </a:p>
        </p:txBody>
      </p:sp>
      <p:sp>
        <p:nvSpPr>
          <p:cNvPr id="27" name="Text 25"/>
          <p:cNvSpPr txBox="1"/>
          <p:nvPr/>
        </p:nvSpPr>
        <p:spPr>
          <a:xfrm>
            <a:off x="6446520" y="4160520"/>
            <a:ext cx="22860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Python 3 standard library only</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Server-Sent Events stream</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HTML, CSS, JavaScript, SVG</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No framework, no cloud</a:t>
            </a:r>
            <a:endParaRPr lang="en-US" sz="1300" dirty="0"/>
          </a:p>
        </p:txBody>
      </p:sp>
      <p:sp>
        <p:nvSpPr>
          <p:cNvPr id="28" name="Shape 26"/>
          <p:cNvSpPr/>
          <p:nvPr/>
        </p:nvSpPr>
        <p:spPr>
          <a:xfrm>
            <a:off x="9052560" y="3520440"/>
            <a:ext cx="2651760" cy="2697480"/>
          </a:xfrm>
          <a:prstGeom prst="roundRect">
            <a:avLst>
              <a:gd name="adj" fmla="val 4138"/>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9" name="Text 27"/>
          <p:cNvSpPr txBox="1"/>
          <p:nvPr/>
        </p:nvSpPr>
        <p:spPr>
          <a:xfrm>
            <a:off x="9281160" y="3703320"/>
            <a:ext cx="2240280" cy="365760"/>
          </a:xfrm>
          <a:prstGeom prst="rect">
            <a:avLst/>
          </a:prstGeom>
          <a:noFill/>
          <a:ln/>
        </p:spPr>
        <p:txBody>
          <a:bodyPr wrap="square" lIns="0" tIns="0" rIns="0" bIns="0" rtlCol="0" anchor="t"/>
          <a:lstStyle/>
          <a:p>
            <a:pPr indent="0" marL="0">
              <a:buNone/>
            </a:pPr>
            <a:r>
              <a:rPr lang="en-US" sz="1700" b="1" dirty="0">
                <a:solidFill>
                  <a:srgbClr val="0B2E35"/>
                </a:solidFill>
                <a:latin typeface="Cambria" pitchFamily="34" charset="0"/>
                <a:ea typeface="Cambria" pitchFamily="34" charset="-122"/>
                <a:cs typeface="Cambria" pitchFamily="34" charset="-120"/>
              </a:rPr>
              <a:t>Frameworks</a:t>
            </a:r>
            <a:endParaRPr lang="en-US" sz="1700" dirty="0"/>
          </a:p>
        </p:txBody>
      </p:sp>
      <p:sp>
        <p:nvSpPr>
          <p:cNvPr id="30" name="Text 28"/>
          <p:cNvSpPr txBox="1"/>
          <p:nvPr/>
        </p:nvSpPr>
        <p:spPr>
          <a:xfrm>
            <a:off x="9281160" y="4160520"/>
            <a:ext cx="22860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Arduino-ESP32 on ESP-IDF</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W3C Server-Sent Events</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IWGDF-reviewed evidence on pressure relief</a:t>
            </a:r>
            <a:endParaRPr lang="en-US" sz="1300" dirty="0"/>
          </a:p>
          <a:p>
            <a:pPr marL="342900" indent="-342900">
              <a:spcAft>
                <a:spcPts val="500"/>
              </a:spcAft>
              <a:buSzPct val="100000"/>
              <a:buChar char="•"/>
            </a:pPr>
            <a:r>
              <a:rPr lang="en-US" sz="1300" dirty="0">
                <a:solidFill>
                  <a:srgbClr val="3C5A60"/>
                </a:solidFill>
                <a:latin typeface="Calibri" pitchFamily="34" charset="0"/>
                <a:ea typeface="Calibri" pitchFamily="34" charset="-122"/>
                <a:cs typeface="Calibri" pitchFamily="34" charset="-120"/>
              </a:rPr>
              <a:t>India MDR 2017 route, class to be confirmed</a:t>
            </a:r>
            <a:endParaRPr lang="en-US" sz="1300" dirty="0"/>
          </a:p>
        </p:txBody>
      </p:sp>
      <p:sp>
        <p:nvSpPr>
          <p:cNvPr id="31" name="Text 29"/>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32" name="Text 30"/>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From raw readings to a warning</a:t>
            </a:r>
            <a:endParaRPr lang="en-US" sz="3400" dirty="0"/>
          </a:p>
        </p:txBody>
      </p:sp>
      <p:sp>
        <p:nvSpPr>
          <p:cNvPr id="3" name="Shape 1"/>
          <p:cNvSpPr/>
          <p:nvPr/>
        </p:nvSpPr>
        <p:spPr>
          <a:xfrm>
            <a:off x="548640" y="1371600"/>
            <a:ext cx="1691640" cy="2011680"/>
          </a:xfrm>
          <a:prstGeom prst="roundRect">
            <a:avLst>
              <a:gd name="adj" fmla="val 64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 name="Shape 2"/>
          <p:cNvSpPr/>
          <p:nvPr/>
        </p:nvSpPr>
        <p:spPr>
          <a:xfrm>
            <a:off x="777240" y="1554480"/>
            <a:ext cx="475488" cy="475488"/>
          </a:xfrm>
          <a:prstGeom prst="ellipse">
            <a:avLst/>
          </a:prstGeom>
          <a:solidFill>
            <a:srgbClr val="1A535E"/>
          </a:solidFill>
          <a:ln w="12700">
            <a:solidFill>
              <a:srgbClr val="1A535E"/>
            </a:solidFill>
            <a:prstDash val="solid"/>
          </a:ln>
        </p:spPr>
      </p:sp>
      <p:pic>
        <p:nvPicPr>
          <p:cNvPr id="5" name="Image 0" descr="read icon">    </p:cNvPr>
          <p:cNvPicPr>
            <a:picLocks noChangeAspect="1"/>
          </p:cNvPicPr>
          <p:nvPr/>
        </p:nvPicPr>
        <p:blipFill>
          <a:blip r:embed="rId1"/>
          <a:stretch>
            <a:fillRect/>
          </a:stretch>
        </p:blipFill>
        <p:spPr>
          <a:xfrm>
            <a:off x="886602" y="1663842"/>
            <a:ext cx="256764" cy="256764"/>
          </a:xfrm>
          <a:prstGeom prst="rect">
            <a:avLst/>
          </a:prstGeom>
        </p:spPr>
      </p:pic>
      <p:sp>
        <p:nvSpPr>
          <p:cNvPr id="6" name="Text 3"/>
          <p:cNvSpPr txBox="1"/>
          <p:nvPr/>
        </p:nvSpPr>
        <p:spPr>
          <a:xfrm>
            <a:off x="777240" y="2130552"/>
            <a:ext cx="1325880" cy="320040"/>
          </a:xfrm>
          <a:prstGeom prst="rect">
            <a:avLst/>
          </a:prstGeom>
          <a:noFill/>
          <a:ln/>
        </p:spPr>
        <p:txBody>
          <a:bodyPr wrap="square" lIns="0" tIns="0" rIns="0" bIns="0" rtlCol="0" anchor="t"/>
          <a:lstStyle/>
          <a:p>
            <a:pPr indent="0" marL="0">
              <a:buNone/>
            </a:pPr>
            <a:r>
              <a:rPr lang="en-US" sz="1600" b="1" dirty="0">
                <a:solidFill>
                  <a:srgbClr val="0B2E35"/>
                </a:solidFill>
                <a:latin typeface="Cambria" pitchFamily="34" charset="0"/>
                <a:ea typeface="Cambria" pitchFamily="34" charset="-122"/>
                <a:cs typeface="Cambria" pitchFamily="34" charset="-120"/>
              </a:rPr>
              <a:t>Read</a:t>
            </a:r>
            <a:endParaRPr lang="en-US" sz="1600" dirty="0"/>
          </a:p>
        </p:txBody>
      </p:sp>
      <p:sp>
        <p:nvSpPr>
          <p:cNvPr id="7" name="Text 4"/>
          <p:cNvSpPr txBox="1"/>
          <p:nvPr/>
        </p:nvSpPr>
        <p:spPr>
          <a:xfrm>
            <a:off x="777240" y="2487168"/>
            <a:ext cx="1325880" cy="822960"/>
          </a:xfrm>
          <a:prstGeom prst="rect">
            <a:avLst/>
          </a:prstGeom>
          <a:noFill/>
          <a:ln/>
        </p:spPr>
        <p:txBody>
          <a:bodyPr wrap="square" lIns="0" tIns="0" rIns="0" bIns="0" rtlCol="0" anchor="t"/>
          <a:lstStyle/>
          <a:p>
            <a:pPr indent="0" marL="0">
              <a:buNone/>
            </a:pPr>
            <a:r>
              <a:rPr lang="en-US" sz="1150" dirty="0">
                <a:solidFill>
                  <a:srgbClr val="3C5A60"/>
                </a:solidFill>
                <a:latin typeface="Calibri" pitchFamily="34" charset="0"/>
                <a:ea typeface="Calibri" pitchFamily="34" charset="-122"/>
                <a:cs typeface="Calibri" pitchFamily="34" charset="-120"/>
              </a:rPr>
              <a:t>How fast each zone charges the shared line, in microseconds</a:t>
            </a:r>
            <a:endParaRPr lang="en-US" sz="1150" dirty="0"/>
          </a:p>
        </p:txBody>
      </p:sp>
      <p:sp>
        <p:nvSpPr>
          <p:cNvPr id="8" name="Shape 5"/>
          <p:cNvSpPr/>
          <p:nvPr/>
        </p:nvSpPr>
        <p:spPr>
          <a:xfrm>
            <a:off x="2258568" y="2377440"/>
            <a:ext cx="164592" cy="0"/>
          </a:xfrm>
          <a:prstGeom prst="line">
            <a:avLst/>
          </a:prstGeom>
          <a:noFill/>
          <a:ln w="25400">
            <a:solidFill>
              <a:srgbClr val="5C7C83"/>
            </a:solidFill>
            <a:prstDash val="solid"/>
            <a:tailEnd type="triangle"/>
          </a:ln>
        </p:spPr>
      </p:sp>
      <p:sp>
        <p:nvSpPr>
          <p:cNvPr id="9" name="Shape 6"/>
          <p:cNvSpPr/>
          <p:nvPr/>
        </p:nvSpPr>
        <p:spPr>
          <a:xfrm>
            <a:off x="2441448" y="1371600"/>
            <a:ext cx="1691640" cy="2011680"/>
          </a:xfrm>
          <a:prstGeom prst="roundRect">
            <a:avLst>
              <a:gd name="adj" fmla="val 64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0" name="Shape 7"/>
          <p:cNvSpPr/>
          <p:nvPr/>
        </p:nvSpPr>
        <p:spPr>
          <a:xfrm>
            <a:off x="2670048" y="1554480"/>
            <a:ext cx="475488" cy="475488"/>
          </a:xfrm>
          <a:prstGeom prst="ellipse">
            <a:avLst/>
          </a:prstGeom>
          <a:solidFill>
            <a:srgbClr val="1A535E"/>
          </a:solidFill>
          <a:ln w="12700">
            <a:solidFill>
              <a:srgbClr val="1A535E"/>
            </a:solidFill>
            <a:prstDash val="solid"/>
          </a:ln>
        </p:spPr>
      </p:sp>
      <p:pic>
        <p:nvPicPr>
          <p:cNvPr id="11" name="Image 1" descr="clean icon">    </p:cNvPr>
          <p:cNvPicPr>
            <a:picLocks noChangeAspect="1"/>
          </p:cNvPicPr>
          <p:nvPr/>
        </p:nvPicPr>
        <p:blipFill>
          <a:blip r:embed="rId2"/>
          <a:stretch>
            <a:fillRect/>
          </a:stretch>
        </p:blipFill>
        <p:spPr>
          <a:xfrm>
            <a:off x="2779410" y="1663842"/>
            <a:ext cx="256764" cy="256764"/>
          </a:xfrm>
          <a:prstGeom prst="rect">
            <a:avLst/>
          </a:prstGeom>
        </p:spPr>
      </p:pic>
      <p:sp>
        <p:nvSpPr>
          <p:cNvPr id="12" name="Text 8"/>
          <p:cNvSpPr txBox="1"/>
          <p:nvPr/>
        </p:nvSpPr>
        <p:spPr>
          <a:xfrm>
            <a:off x="2670048" y="2130552"/>
            <a:ext cx="1325880" cy="320040"/>
          </a:xfrm>
          <a:prstGeom prst="rect">
            <a:avLst/>
          </a:prstGeom>
          <a:noFill/>
          <a:ln/>
        </p:spPr>
        <p:txBody>
          <a:bodyPr wrap="square" lIns="0" tIns="0" rIns="0" bIns="0" rtlCol="0" anchor="t"/>
          <a:lstStyle/>
          <a:p>
            <a:pPr indent="0" marL="0">
              <a:buNone/>
            </a:pPr>
            <a:r>
              <a:rPr lang="en-US" sz="1600" b="1" dirty="0">
                <a:solidFill>
                  <a:srgbClr val="0B2E35"/>
                </a:solidFill>
                <a:latin typeface="Cambria" pitchFamily="34" charset="0"/>
                <a:ea typeface="Cambria" pitchFamily="34" charset="-122"/>
                <a:cs typeface="Cambria" pitchFamily="34" charset="-120"/>
              </a:rPr>
              <a:t>Clean</a:t>
            </a:r>
            <a:endParaRPr lang="en-US" sz="1600" dirty="0"/>
          </a:p>
        </p:txBody>
      </p:sp>
      <p:sp>
        <p:nvSpPr>
          <p:cNvPr id="13" name="Text 9"/>
          <p:cNvSpPr txBox="1"/>
          <p:nvPr/>
        </p:nvSpPr>
        <p:spPr>
          <a:xfrm>
            <a:off x="2670048" y="2487168"/>
            <a:ext cx="1325880" cy="822960"/>
          </a:xfrm>
          <a:prstGeom prst="rect">
            <a:avLst/>
          </a:prstGeom>
          <a:noFill/>
          <a:ln/>
        </p:spPr>
        <p:txBody>
          <a:bodyPr wrap="square" lIns="0" tIns="0" rIns="0" bIns="0" rtlCol="0" anchor="t"/>
          <a:lstStyle/>
          <a:p>
            <a:pPr indent="0" marL="0">
              <a:buNone/>
            </a:pPr>
            <a:r>
              <a:rPr lang="en-US" sz="1150" dirty="0">
                <a:solidFill>
                  <a:srgbClr val="3C5A60"/>
                </a:solidFill>
                <a:latin typeface="Calibri" pitchFamily="34" charset="0"/>
                <a:ea typeface="Calibri" pitchFamily="34" charset="-122"/>
                <a:cs typeface="Calibri" pitchFamily="34" charset="-120"/>
              </a:rPr>
              <a:t>Every wait has a time limit; interrupted timings are dropped</a:t>
            </a:r>
            <a:endParaRPr lang="en-US" sz="1150" dirty="0"/>
          </a:p>
        </p:txBody>
      </p:sp>
      <p:sp>
        <p:nvSpPr>
          <p:cNvPr id="14" name="Shape 10"/>
          <p:cNvSpPr/>
          <p:nvPr/>
        </p:nvSpPr>
        <p:spPr>
          <a:xfrm>
            <a:off x="4151376" y="2377440"/>
            <a:ext cx="164592" cy="0"/>
          </a:xfrm>
          <a:prstGeom prst="line">
            <a:avLst/>
          </a:prstGeom>
          <a:noFill/>
          <a:ln w="25400">
            <a:solidFill>
              <a:srgbClr val="5C7C83"/>
            </a:solidFill>
            <a:prstDash val="solid"/>
            <a:tailEnd type="triangle"/>
          </a:ln>
        </p:spPr>
      </p:sp>
      <p:sp>
        <p:nvSpPr>
          <p:cNvPr id="15" name="Shape 11"/>
          <p:cNvSpPr/>
          <p:nvPr/>
        </p:nvSpPr>
        <p:spPr>
          <a:xfrm>
            <a:off x="4334256" y="1371600"/>
            <a:ext cx="1691640" cy="2011680"/>
          </a:xfrm>
          <a:prstGeom prst="roundRect">
            <a:avLst>
              <a:gd name="adj" fmla="val 64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6" name="Shape 12"/>
          <p:cNvSpPr/>
          <p:nvPr/>
        </p:nvSpPr>
        <p:spPr>
          <a:xfrm>
            <a:off x="4562856" y="1554480"/>
            <a:ext cx="475488" cy="475488"/>
          </a:xfrm>
          <a:prstGeom prst="ellipse">
            <a:avLst/>
          </a:prstGeom>
          <a:solidFill>
            <a:srgbClr val="1A535E"/>
          </a:solidFill>
          <a:ln w="12700">
            <a:solidFill>
              <a:srgbClr val="1A535E"/>
            </a:solidFill>
            <a:prstDash val="solid"/>
          </a:ln>
        </p:spPr>
      </p:sp>
      <p:pic>
        <p:nvPicPr>
          <p:cNvPr id="17" name="Image 2" descr="decide icon">    </p:cNvPr>
          <p:cNvPicPr>
            <a:picLocks noChangeAspect="1"/>
          </p:cNvPicPr>
          <p:nvPr/>
        </p:nvPicPr>
        <p:blipFill>
          <a:blip r:embed="rId3"/>
          <a:stretch>
            <a:fillRect/>
          </a:stretch>
        </p:blipFill>
        <p:spPr>
          <a:xfrm>
            <a:off x="4672218" y="1663842"/>
            <a:ext cx="256764" cy="256764"/>
          </a:xfrm>
          <a:prstGeom prst="rect">
            <a:avLst/>
          </a:prstGeom>
        </p:spPr>
      </p:pic>
      <p:sp>
        <p:nvSpPr>
          <p:cNvPr id="18" name="Text 13"/>
          <p:cNvSpPr txBox="1"/>
          <p:nvPr/>
        </p:nvSpPr>
        <p:spPr>
          <a:xfrm>
            <a:off x="4562856" y="2130552"/>
            <a:ext cx="1325880" cy="320040"/>
          </a:xfrm>
          <a:prstGeom prst="rect">
            <a:avLst/>
          </a:prstGeom>
          <a:noFill/>
          <a:ln/>
        </p:spPr>
        <p:txBody>
          <a:bodyPr wrap="square" lIns="0" tIns="0" rIns="0" bIns="0" rtlCol="0" anchor="t"/>
          <a:lstStyle/>
          <a:p>
            <a:pPr indent="0" marL="0">
              <a:buNone/>
            </a:pPr>
            <a:r>
              <a:rPr lang="en-US" sz="1600" b="1" dirty="0">
                <a:solidFill>
                  <a:srgbClr val="0B2E35"/>
                </a:solidFill>
                <a:latin typeface="Cambria" pitchFamily="34" charset="0"/>
                <a:ea typeface="Cambria" pitchFamily="34" charset="-122"/>
                <a:cs typeface="Cambria" pitchFamily="34" charset="-120"/>
              </a:rPr>
              <a:t>Decide</a:t>
            </a:r>
            <a:endParaRPr lang="en-US" sz="1600" dirty="0"/>
          </a:p>
        </p:txBody>
      </p:sp>
      <p:sp>
        <p:nvSpPr>
          <p:cNvPr id="19" name="Text 14"/>
          <p:cNvSpPr txBox="1"/>
          <p:nvPr/>
        </p:nvSpPr>
        <p:spPr>
          <a:xfrm>
            <a:off x="4562856" y="2487168"/>
            <a:ext cx="1325880" cy="822960"/>
          </a:xfrm>
          <a:prstGeom prst="rect">
            <a:avLst/>
          </a:prstGeom>
          <a:noFill/>
          <a:ln/>
        </p:spPr>
        <p:txBody>
          <a:bodyPr wrap="square" lIns="0" tIns="0" rIns="0" bIns="0" rtlCol="0" anchor="t"/>
          <a:lstStyle/>
          <a:p>
            <a:pPr indent="0" marL="0">
              <a:buNone/>
            </a:pPr>
            <a:r>
              <a:rPr lang="en-US" sz="1150" dirty="0">
                <a:solidFill>
                  <a:srgbClr val="3C5A60"/>
                </a:solidFill>
                <a:latin typeface="Calibri" pitchFamily="34" charset="0"/>
                <a:ea typeface="Calibri" pitchFamily="34" charset="-122"/>
                <a:cs typeface="Calibri" pitchFamily="34" charset="-120"/>
              </a:rPr>
              <a:t>Charging 4× faster than at rest means loaded</a:t>
            </a:r>
            <a:endParaRPr lang="en-US" sz="1150" dirty="0"/>
          </a:p>
        </p:txBody>
      </p:sp>
      <p:sp>
        <p:nvSpPr>
          <p:cNvPr id="20" name="Shape 15"/>
          <p:cNvSpPr/>
          <p:nvPr/>
        </p:nvSpPr>
        <p:spPr>
          <a:xfrm>
            <a:off x="6044184" y="2377440"/>
            <a:ext cx="164592" cy="0"/>
          </a:xfrm>
          <a:prstGeom prst="line">
            <a:avLst/>
          </a:prstGeom>
          <a:noFill/>
          <a:ln w="25400">
            <a:solidFill>
              <a:srgbClr val="5C7C83"/>
            </a:solidFill>
            <a:prstDash val="solid"/>
            <a:tailEnd type="triangle"/>
          </a:ln>
        </p:spPr>
      </p:sp>
      <p:sp>
        <p:nvSpPr>
          <p:cNvPr id="21" name="Shape 16"/>
          <p:cNvSpPr/>
          <p:nvPr/>
        </p:nvSpPr>
        <p:spPr>
          <a:xfrm>
            <a:off x="6227064" y="1371600"/>
            <a:ext cx="1691640" cy="2011680"/>
          </a:xfrm>
          <a:prstGeom prst="roundRect">
            <a:avLst>
              <a:gd name="adj" fmla="val 64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2" name="Shape 17"/>
          <p:cNvSpPr/>
          <p:nvPr/>
        </p:nvSpPr>
        <p:spPr>
          <a:xfrm>
            <a:off x="6455664" y="1554480"/>
            <a:ext cx="475488" cy="475488"/>
          </a:xfrm>
          <a:prstGeom prst="ellipse">
            <a:avLst/>
          </a:prstGeom>
          <a:solidFill>
            <a:srgbClr val="1A535E"/>
          </a:solidFill>
          <a:ln w="12700">
            <a:solidFill>
              <a:srgbClr val="1A535E"/>
            </a:solidFill>
            <a:prstDash val="solid"/>
          </a:ln>
        </p:spPr>
      </p:sp>
      <p:pic>
        <p:nvPicPr>
          <p:cNvPr id="23" name="Image 3" descr="grace icon">    </p:cNvPr>
          <p:cNvPicPr>
            <a:picLocks noChangeAspect="1"/>
          </p:cNvPicPr>
          <p:nvPr/>
        </p:nvPicPr>
        <p:blipFill>
          <a:blip r:embed="rId4"/>
          <a:stretch>
            <a:fillRect/>
          </a:stretch>
        </p:blipFill>
        <p:spPr>
          <a:xfrm>
            <a:off x="6565026" y="1663842"/>
            <a:ext cx="256764" cy="256764"/>
          </a:xfrm>
          <a:prstGeom prst="rect">
            <a:avLst/>
          </a:prstGeom>
        </p:spPr>
      </p:pic>
      <p:sp>
        <p:nvSpPr>
          <p:cNvPr id="24" name="Text 18"/>
          <p:cNvSpPr txBox="1"/>
          <p:nvPr/>
        </p:nvSpPr>
        <p:spPr>
          <a:xfrm>
            <a:off x="6455664" y="2130552"/>
            <a:ext cx="1325880" cy="320040"/>
          </a:xfrm>
          <a:prstGeom prst="rect">
            <a:avLst/>
          </a:prstGeom>
          <a:noFill/>
          <a:ln/>
        </p:spPr>
        <p:txBody>
          <a:bodyPr wrap="square" lIns="0" tIns="0" rIns="0" bIns="0" rtlCol="0" anchor="t"/>
          <a:lstStyle/>
          <a:p>
            <a:pPr indent="0" marL="0">
              <a:buNone/>
            </a:pPr>
            <a:r>
              <a:rPr lang="en-US" sz="1600" b="1" dirty="0">
                <a:solidFill>
                  <a:srgbClr val="0B2E35"/>
                </a:solidFill>
                <a:latin typeface="Cambria" pitchFamily="34" charset="0"/>
                <a:ea typeface="Cambria" pitchFamily="34" charset="-122"/>
                <a:cs typeface="Cambria" pitchFamily="34" charset="-120"/>
              </a:rPr>
              <a:t>Debounce</a:t>
            </a:r>
            <a:endParaRPr lang="en-US" sz="1600" dirty="0"/>
          </a:p>
        </p:txBody>
      </p:sp>
      <p:sp>
        <p:nvSpPr>
          <p:cNvPr id="25" name="Text 19"/>
          <p:cNvSpPr txBox="1"/>
          <p:nvPr/>
        </p:nvSpPr>
        <p:spPr>
          <a:xfrm>
            <a:off x="6455664" y="2487168"/>
            <a:ext cx="1325880" cy="822960"/>
          </a:xfrm>
          <a:prstGeom prst="rect">
            <a:avLst/>
          </a:prstGeom>
          <a:noFill/>
          <a:ln/>
        </p:spPr>
        <p:txBody>
          <a:bodyPr wrap="square" lIns="0" tIns="0" rIns="0" bIns="0" rtlCol="0" anchor="t"/>
          <a:lstStyle/>
          <a:p>
            <a:pPr indent="0" marL="0">
              <a:buNone/>
            </a:pPr>
            <a:r>
              <a:rPr lang="en-US" sz="1150" dirty="0">
                <a:solidFill>
                  <a:srgbClr val="3C5A60"/>
                </a:solidFill>
                <a:latin typeface="Calibri" pitchFamily="34" charset="0"/>
                <a:ea typeface="Calibri" pitchFamily="34" charset="-122"/>
                <a:cs typeface="Calibri" pitchFamily="34" charset="-120"/>
              </a:rPr>
              <a:t>Drops shorter than half a second are ignored</a:t>
            </a:r>
            <a:endParaRPr lang="en-US" sz="1150" dirty="0"/>
          </a:p>
        </p:txBody>
      </p:sp>
      <p:sp>
        <p:nvSpPr>
          <p:cNvPr id="26" name="Shape 20"/>
          <p:cNvSpPr/>
          <p:nvPr/>
        </p:nvSpPr>
        <p:spPr>
          <a:xfrm>
            <a:off x="7936992" y="2377440"/>
            <a:ext cx="164592" cy="0"/>
          </a:xfrm>
          <a:prstGeom prst="line">
            <a:avLst/>
          </a:prstGeom>
          <a:noFill/>
          <a:ln w="25400">
            <a:solidFill>
              <a:srgbClr val="5C7C83"/>
            </a:solidFill>
            <a:prstDash val="solid"/>
            <a:tailEnd type="triangle"/>
          </a:ln>
        </p:spPr>
      </p:sp>
      <p:sp>
        <p:nvSpPr>
          <p:cNvPr id="27" name="Shape 21"/>
          <p:cNvSpPr/>
          <p:nvPr/>
        </p:nvSpPr>
        <p:spPr>
          <a:xfrm>
            <a:off x="8119872" y="1371600"/>
            <a:ext cx="1691640" cy="2011680"/>
          </a:xfrm>
          <a:prstGeom prst="roundRect">
            <a:avLst>
              <a:gd name="adj" fmla="val 64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8" name="Shape 22"/>
          <p:cNvSpPr/>
          <p:nvPr/>
        </p:nvSpPr>
        <p:spPr>
          <a:xfrm>
            <a:off x="8348472" y="1554480"/>
            <a:ext cx="475488" cy="475488"/>
          </a:xfrm>
          <a:prstGeom prst="ellipse">
            <a:avLst/>
          </a:prstGeom>
          <a:solidFill>
            <a:srgbClr val="1A535E"/>
          </a:solidFill>
          <a:ln w="12700">
            <a:solidFill>
              <a:srgbClr val="1A535E"/>
            </a:solidFill>
            <a:prstDash val="solid"/>
          </a:ln>
        </p:spPr>
      </p:sp>
      <p:pic>
        <p:nvPicPr>
          <p:cNvPr id="29" name="Image 4" descr="feature icon">    </p:cNvPr>
          <p:cNvPicPr>
            <a:picLocks noChangeAspect="1"/>
          </p:cNvPicPr>
          <p:nvPr/>
        </p:nvPicPr>
        <p:blipFill>
          <a:blip r:embed="rId5"/>
          <a:stretch>
            <a:fillRect/>
          </a:stretch>
        </p:blipFill>
        <p:spPr>
          <a:xfrm>
            <a:off x="8457834" y="1663842"/>
            <a:ext cx="256764" cy="256764"/>
          </a:xfrm>
          <a:prstGeom prst="rect">
            <a:avLst/>
          </a:prstGeom>
        </p:spPr>
      </p:pic>
      <p:sp>
        <p:nvSpPr>
          <p:cNvPr id="30" name="Text 23"/>
          <p:cNvSpPr txBox="1"/>
          <p:nvPr/>
        </p:nvSpPr>
        <p:spPr>
          <a:xfrm>
            <a:off x="8348472" y="2130552"/>
            <a:ext cx="1325880" cy="320040"/>
          </a:xfrm>
          <a:prstGeom prst="rect">
            <a:avLst/>
          </a:prstGeom>
          <a:noFill/>
          <a:ln/>
        </p:spPr>
        <p:txBody>
          <a:bodyPr wrap="square" lIns="0" tIns="0" rIns="0" bIns="0" rtlCol="0" anchor="t"/>
          <a:lstStyle/>
          <a:p>
            <a:pPr indent="0" marL="0">
              <a:buNone/>
            </a:pPr>
            <a:r>
              <a:rPr lang="en-US" sz="1600" b="1" dirty="0">
                <a:solidFill>
                  <a:srgbClr val="0B2E35"/>
                </a:solidFill>
                <a:latin typeface="Cambria" pitchFamily="34" charset="0"/>
                <a:ea typeface="Cambria" pitchFamily="34" charset="-122"/>
                <a:cs typeface="Cambria" pitchFamily="34" charset="-120"/>
              </a:rPr>
              <a:t>Engineer</a:t>
            </a:r>
            <a:endParaRPr lang="en-US" sz="1600" dirty="0"/>
          </a:p>
        </p:txBody>
      </p:sp>
      <p:sp>
        <p:nvSpPr>
          <p:cNvPr id="31" name="Text 24"/>
          <p:cNvSpPr txBox="1"/>
          <p:nvPr/>
        </p:nvSpPr>
        <p:spPr>
          <a:xfrm>
            <a:off x="8348472" y="2487168"/>
            <a:ext cx="1325880" cy="822960"/>
          </a:xfrm>
          <a:prstGeom prst="rect">
            <a:avLst/>
          </a:prstGeom>
          <a:noFill/>
          <a:ln/>
        </p:spPr>
        <p:txBody>
          <a:bodyPr wrap="square" lIns="0" tIns="0" rIns="0" bIns="0" rtlCol="0" anchor="t"/>
          <a:lstStyle/>
          <a:p>
            <a:pPr indent="0" marL="0">
              <a:buNone/>
            </a:pPr>
            <a:r>
              <a:rPr lang="en-US" sz="1150" dirty="0">
                <a:solidFill>
                  <a:srgbClr val="3C5A60"/>
                </a:solidFill>
                <a:latin typeface="Calibri" pitchFamily="34" charset="0"/>
                <a:ea typeface="Calibri" pitchFamily="34" charset="-122"/>
                <a:cs typeface="Calibri" pitchFamily="34" charset="-120"/>
              </a:rPr>
              <a:t>Time under load, per zone, in milliseconds</a:t>
            </a:r>
            <a:endParaRPr lang="en-US" sz="1150" dirty="0"/>
          </a:p>
        </p:txBody>
      </p:sp>
      <p:sp>
        <p:nvSpPr>
          <p:cNvPr id="32" name="Shape 25"/>
          <p:cNvSpPr/>
          <p:nvPr/>
        </p:nvSpPr>
        <p:spPr>
          <a:xfrm>
            <a:off x="9829800" y="2377440"/>
            <a:ext cx="164592" cy="0"/>
          </a:xfrm>
          <a:prstGeom prst="line">
            <a:avLst/>
          </a:prstGeom>
          <a:noFill/>
          <a:ln w="25400">
            <a:solidFill>
              <a:srgbClr val="5C7C83"/>
            </a:solidFill>
            <a:prstDash val="solid"/>
            <a:tailEnd type="triangle"/>
          </a:ln>
        </p:spPr>
      </p:sp>
      <p:sp>
        <p:nvSpPr>
          <p:cNvPr id="33" name="Shape 26"/>
          <p:cNvSpPr/>
          <p:nvPr/>
        </p:nvSpPr>
        <p:spPr>
          <a:xfrm>
            <a:off x="10012680" y="1371600"/>
            <a:ext cx="1691640" cy="2011680"/>
          </a:xfrm>
          <a:prstGeom prst="roundRect">
            <a:avLst>
              <a:gd name="adj" fmla="val 64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34" name="Shape 27"/>
          <p:cNvSpPr/>
          <p:nvPr/>
        </p:nvSpPr>
        <p:spPr>
          <a:xfrm>
            <a:off x="10241280" y="1554480"/>
            <a:ext cx="475488" cy="475488"/>
          </a:xfrm>
          <a:prstGeom prst="ellipse">
            <a:avLst/>
          </a:prstGeom>
          <a:solidFill>
            <a:srgbClr val="D9722F"/>
          </a:solidFill>
          <a:ln w="12700">
            <a:solidFill>
              <a:srgbClr val="D9722F"/>
            </a:solidFill>
            <a:prstDash val="solid"/>
          </a:ln>
        </p:spPr>
      </p:sp>
      <p:pic>
        <p:nvPicPr>
          <p:cNvPr id="35" name="Image 5" descr="share icon">    </p:cNvPr>
          <p:cNvPicPr>
            <a:picLocks noChangeAspect="1"/>
          </p:cNvPicPr>
          <p:nvPr/>
        </p:nvPicPr>
        <p:blipFill>
          <a:blip r:embed="rId6"/>
          <a:stretch>
            <a:fillRect/>
          </a:stretch>
        </p:blipFill>
        <p:spPr>
          <a:xfrm>
            <a:off x="10350642" y="1663842"/>
            <a:ext cx="256764" cy="256764"/>
          </a:xfrm>
          <a:prstGeom prst="rect">
            <a:avLst/>
          </a:prstGeom>
        </p:spPr>
      </p:pic>
      <p:sp>
        <p:nvSpPr>
          <p:cNvPr id="36" name="Text 28"/>
          <p:cNvSpPr txBox="1"/>
          <p:nvPr/>
        </p:nvSpPr>
        <p:spPr>
          <a:xfrm>
            <a:off x="10241280" y="2130552"/>
            <a:ext cx="1325880" cy="320040"/>
          </a:xfrm>
          <a:prstGeom prst="rect">
            <a:avLst/>
          </a:prstGeom>
          <a:noFill/>
          <a:ln/>
        </p:spPr>
        <p:txBody>
          <a:bodyPr wrap="square" lIns="0" tIns="0" rIns="0" bIns="0" rtlCol="0" anchor="t"/>
          <a:lstStyle/>
          <a:p>
            <a:pPr indent="0" marL="0">
              <a:buNone/>
            </a:pPr>
            <a:r>
              <a:rPr lang="en-US" sz="1600" b="1" dirty="0">
                <a:solidFill>
                  <a:srgbClr val="0B2E35"/>
                </a:solidFill>
                <a:latin typeface="Cambria" pitchFamily="34" charset="0"/>
                <a:ea typeface="Cambria" pitchFamily="34" charset="-122"/>
                <a:cs typeface="Cambria" pitchFamily="34" charset="-120"/>
              </a:rPr>
              <a:t>Share</a:t>
            </a:r>
            <a:endParaRPr lang="en-US" sz="1600" dirty="0"/>
          </a:p>
        </p:txBody>
      </p:sp>
      <p:sp>
        <p:nvSpPr>
          <p:cNvPr id="37" name="Text 29"/>
          <p:cNvSpPr txBox="1"/>
          <p:nvPr/>
        </p:nvSpPr>
        <p:spPr>
          <a:xfrm>
            <a:off x="10241280" y="2487168"/>
            <a:ext cx="1325880" cy="822960"/>
          </a:xfrm>
          <a:prstGeom prst="rect">
            <a:avLst/>
          </a:prstGeom>
          <a:noFill/>
          <a:ln/>
        </p:spPr>
        <p:txBody>
          <a:bodyPr wrap="square" lIns="0" tIns="0" rIns="0" bIns="0" rtlCol="0" anchor="t"/>
          <a:lstStyle/>
          <a:p>
            <a:pPr indent="0" marL="0">
              <a:buNone/>
            </a:pPr>
            <a:r>
              <a:rPr lang="en-US" sz="1150" dirty="0">
                <a:solidFill>
                  <a:srgbClr val="3C5A60"/>
                </a:solidFill>
                <a:latin typeface="Calibri" pitchFamily="34" charset="0"/>
                <a:ea typeface="Calibri" pitchFamily="34" charset="-122"/>
                <a:cs typeface="Calibri" pitchFamily="34" charset="-120"/>
              </a:rPr>
              <a:t>Readings and counters go out; the dashboard maps load and logs alerts</a:t>
            </a:r>
            <a:endParaRPr lang="en-US" sz="1150" dirty="0"/>
          </a:p>
        </p:txBody>
      </p:sp>
      <p:sp>
        <p:nvSpPr>
          <p:cNvPr id="38" name="Shape 30"/>
          <p:cNvSpPr/>
          <p:nvPr/>
        </p:nvSpPr>
        <p:spPr>
          <a:xfrm>
            <a:off x="548640" y="3657600"/>
            <a:ext cx="3566160" cy="2560320"/>
          </a:xfrm>
          <a:prstGeom prst="roundRect">
            <a:avLst>
              <a:gd name="adj" fmla="val 42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39" name="Shape 31"/>
          <p:cNvSpPr/>
          <p:nvPr/>
        </p:nvSpPr>
        <p:spPr>
          <a:xfrm>
            <a:off x="822960" y="3886200"/>
            <a:ext cx="502920" cy="502920"/>
          </a:xfrm>
          <a:prstGeom prst="ellipse">
            <a:avLst/>
          </a:prstGeom>
          <a:solidFill>
            <a:srgbClr val="1A535E"/>
          </a:solidFill>
          <a:ln w="12700">
            <a:solidFill>
              <a:srgbClr val="1A535E"/>
            </a:solidFill>
            <a:prstDash val="solid"/>
          </a:ln>
        </p:spPr>
      </p:sp>
      <p:pic>
        <p:nvPicPr>
          <p:cNvPr id="40" name="Image 6" descr="layers icon">    </p:cNvPr>
          <p:cNvPicPr>
            <a:picLocks noChangeAspect="1"/>
          </p:cNvPicPr>
          <p:nvPr/>
        </p:nvPicPr>
        <p:blipFill>
          <a:blip r:embed="rId7"/>
          <a:stretch>
            <a:fillRect/>
          </a:stretch>
        </p:blipFill>
        <p:spPr>
          <a:xfrm>
            <a:off x="938632" y="4001872"/>
            <a:ext cx="271577" cy="271577"/>
          </a:xfrm>
          <a:prstGeom prst="rect">
            <a:avLst/>
          </a:prstGeom>
        </p:spPr>
      </p:pic>
      <p:sp>
        <p:nvSpPr>
          <p:cNvPr id="41" name="Text 32"/>
          <p:cNvSpPr txBox="1"/>
          <p:nvPr/>
        </p:nvSpPr>
        <p:spPr>
          <a:xfrm>
            <a:off x="1508760" y="3913632"/>
            <a:ext cx="1645920" cy="411480"/>
          </a:xfrm>
          <a:prstGeom prst="rect">
            <a:avLst/>
          </a:prstGeom>
          <a:noFill/>
          <a:ln/>
        </p:spPr>
        <p:txBody>
          <a:bodyPr wrap="square" lIns="0" tIns="0" rIns="0" bIns="0" rtlCol="0" anchor="t"/>
          <a:lstStyle/>
          <a:p>
            <a:pPr indent="0" marL="0">
              <a:buNone/>
            </a:pPr>
            <a:r>
              <a:rPr lang="en-US" sz="1800" b="1" dirty="0">
                <a:solidFill>
                  <a:srgbClr val="0B2E35"/>
                </a:solidFill>
                <a:latin typeface="Cambria" pitchFamily="34" charset="0"/>
                <a:ea typeface="Cambria" pitchFamily="34" charset="-122"/>
                <a:cs typeface="Cambria" pitchFamily="34" charset="-120"/>
              </a:rPr>
              <a:t>Synthetic data</a:t>
            </a:r>
            <a:endParaRPr lang="en-US" sz="1800" dirty="0"/>
          </a:p>
        </p:txBody>
      </p:sp>
      <p:sp>
        <p:nvSpPr>
          <p:cNvPr id="42" name="Text 33"/>
          <p:cNvSpPr/>
          <p:nvPr/>
        </p:nvSpPr>
        <p:spPr>
          <a:xfrm>
            <a:off x="3035808" y="3986784"/>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43" name="Text 34"/>
          <p:cNvSpPr txBox="1"/>
          <p:nvPr/>
        </p:nvSpPr>
        <p:spPr>
          <a:xfrm>
            <a:off x="822960" y="4572000"/>
            <a:ext cx="3063240" cy="1508760"/>
          </a:xfrm>
          <a:prstGeom prst="rect">
            <a:avLst/>
          </a:prstGeom>
          <a:noFill/>
          <a:ln/>
        </p:spPr>
        <p:txBody>
          <a:bodyPr wrap="square" lIns="0" tIns="0" rIns="0" bIns="0" rtlCol="0" anchor="t"/>
          <a:lstStyle/>
          <a:p>
            <a:pPr indent="0" marL="0">
              <a:buNone/>
            </a:pPr>
            <a:r>
              <a:rPr lang="en-US" sz="1350" dirty="0">
                <a:solidFill>
                  <a:srgbClr val="3C5A60"/>
                </a:solidFill>
                <a:latin typeface="Calibri" pitchFamily="34" charset="0"/>
                <a:ea typeface="Calibri" pitchFamily="34" charset="-122"/>
                <a:cs typeface="Calibri" pitchFamily="34" charset="-120"/>
              </a:rPr>
              <a:t>A built-in simulator creates standing and walking load, scaled to body weight, so the dashboard runs without the insole. A circuit model and a scripted fake insole tested the firmware.</a:t>
            </a:r>
            <a:endParaRPr lang="en-US" sz="1350" dirty="0"/>
          </a:p>
        </p:txBody>
      </p:sp>
      <p:sp>
        <p:nvSpPr>
          <p:cNvPr id="44" name="Shape 35"/>
          <p:cNvSpPr/>
          <p:nvPr/>
        </p:nvSpPr>
        <p:spPr>
          <a:xfrm>
            <a:off x="4370832" y="3657600"/>
            <a:ext cx="3566160" cy="2560320"/>
          </a:xfrm>
          <a:prstGeom prst="roundRect">
            <a:avLst>
              <a:gd name="adj" fmla="val 42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5" name="Shape 36"/>
          <p:cNvSpPr/>
          <p:nvPr/>
        </p:nvSpPr>
        <p:spPr>
          <a:xfrm>
            <a:off x="4645152" y="3886200"/>
            <a:ext cx="502920" cy="502920"/>
          </a:xfrm>
          <a:prstGeom prst="ellipse">
            <a:avLst/>
          </a:prstGeom>
          <a:solidFill>
            <a:srgbClr val="1A535E"/>
          </a:solidFill>
          <a:ln w="12700">
            <a:solidFill>
              <a:srgbClr val="1A535E"/>
            </a:solidFill>
            <a:prstDash val="solid"/>
          </a:ln>
        </p:spPr>
      </p:sp>
      <p:pic>
        <p:nvPicPr>
          <p:cNvPr id="46" name="Image 7" descr="lock icon">    </p:cNvPr>
          <p:cNvPicPr>
            <a:picLocks noChangeAspect="1"/>
          </p:cNvPicPr>
          <p:nvPr/>
        </p:nvPicPr>
        <p:blipFill>
          <a:blip r:embed="rId8"/>
          <a:stretch>
            <a:fillRect/>
          </a:stretch>
        </p:blipFill>
        <p:spPr>
          <a:xfrm>
            <a:off x="4760824" y="4001872"/>
            <a:ext cx="271577" cy="271577"/>
          </a:xfrm>
          <a:prstGeom prst="rect">
            <a:avLst/>
          </a:prstGeom>
        </p:spPr>
      </p:pic>
      <p:sp>
        <p:nvSpPr>
          <p:cNvPr id="47" name="Text 37"/>
          <p:cNvSpPr txBox="1"/>
          <p:nvPr/>
        </p:nvSpPr>
        <p:spPr>
          <a:xfrm>
            <a:off x="5330952" y="3913632"/>
            <a:ext cx="1645920" cy="411480"/>
          </a:xfrm>
          <a:prstGeom prst="rect">
            <a:avLst/>
          </a:prstGeom>
          <a:noFill/>
          <a:ln/>
        </p:spPr>
        <p:txBody>
          <a:bodyPr wrap="square" lIns="0" tIns="0" rIns="0" bIns="0" rtlCol="0" anchor="t"/>
          <a:lstStyle/>
          <a:p>
            <a:pPr indent="0" marL="0">
              <a:buNone/>
            </a:pPr>
            <a:r>
              <a:rPr lang="en-US" sz="1800" b="1" dirty="0">
                <a:solidFill>
                  <a:srgbClr val="0B2E35"/>
                </a:solidFill>
                <a:latin typeface="Cambria" pitchFamily="34" charset="0"/>
                <a:ea typeface="Cambria" pitchFamily="34" charset="-122"/>
                <a:cs typeface="Cambria" pitchFamily="34" charset="-120"/>
              </a:rPr>
              <a:t>Privacy</a:t>
            </a:r>
            <a:endParaRPr lang="en-US" sz="1800" dirty="0"/>
          </a:p>
        </p:txBody>
      </p:sp>
      <p:sp>
        <p:nvSpPr>
          <p:cNvPr id="48" name="Text 38"/>
          <p:cNvSpPr/>
          <p:nvPr/>
        </p:nvSpPr>
        <p:spPr>
          <a:xfrm>
            <a:off x="6858000" y="3986784"/>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49" name="Text 39"/>
          <p:cNvSpPr txBox="1"/>
          <p:nvPr/>
        </p:nvSpPr>
        <p:spPr>
          <a:xfrm>
            <a:off x="4645152" y="4572000"/>
            <a:ext cx="3063240" cy="1508760"/>
          </a:xfrm>
          <a:prstGeom prst="rect">
            <a:avLst/>
          </a:prstGeom>
          <a:noFill/>
          <a:ln/>
        </p:spPr>
        <p:txBody>
          <a:bodyPr wrap="square" lIns="0" tIns="0" rIns="0" bIns="0" rtlCol="0" anchor="t"/>
          <a:lstStyle/>
          <a:p>
            <a:pPr indent="0" marL="0">
              <a:buNone/>
            </a:pPr>
            <a:r>
              <a:rPr lang="en-US" sz="1350" dirty="0">
                <a:solidFill>
                  <a:srgbClr val="3C5A60"/>
                </a:solidFill>
                <a:latin typeface="Calibri" pitchFamily="34" charset="0"/>
                <a:ea typeface="Calibri" pitchFamily="34" charset="-122"/>
                <a:cs typeface="Calibri" pitchFamily="34" charset="-120"/>
              </a:rPr>
              <a:t>No cloud and no account. Readings stay on the local network, and the wearer's details stay in the browser tab.</a:t>
            </a:r>
            <a:endParaRPr lang="en-US" sz="1350" dirty="0"/>
          </a:p>
        </p:txBody>
      </p:sp>
      <p:sp>
        <p:nvSpPr>
          <p:cNvPr id="50" name="Shape 40"/>
          <p:cNvSpPr/>
          <p:nvPr/>
        </p:nvSpPr>
        <p:spPr>
          <a:xfrm>
            <a:off x="8193024" y="3657600"/>
            <a:ext cx="3566160" cy="2560320"/>
          </a:xfrm>
          <a:prstGeom prst="roundRect">
            <a:avLst>
              <a:gd name="adj" fmla="val 4286"/>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51" name="Shape 41"/>
          <p:cNvSpPr/>
          <p:nvPr/>
        </p:nvSpPr>
        <p:spPr>
          <a:xfrm>
            <a:off x="8467344" y="3886200"/>
            <a:ext cx="502920" cy="502920"/>
          </a:xfrm>
          <a:prstGeom prst="ellipse">
            <a:avLst/>
          </a:prstGeom>
          <a:solidFill>
            <a:srgbClr val="E8A33A"/>
          </a:solidFill>
          <a:ln w="12700">
            <a:solidFill>
              <a:srgbClr val="E8A33A"/>
            </a:solidFill>
            <a:prstDash val="solid"/>
          </a:ln>
        </p:spPr>
      </p:sp>
      <p:pic>
        <p:nvPicPr>
          <p:cNvPr id="52" name="Image 8" descr="target icon">    </p:cNvPr>
          <p:cNvPicPr>
            <a:picLocks noChangeAspect="1"/>
          </p:cNvPicPr>
          <p:nvPr/>
        </p:nvPicPr>
        <p:blipFill>
          <a:blip r:embed="rId9"/>
          <a:stretch>
            <a:fillRect/>
          </a:stretch>
        </p:blipFill>
        <p:spPr>
          <a:xfrm>
            <a:off x="8583016" y="4001872"/>
            <a:ext cx="271577" cy="271577"/>
          </a:xfrm>
          <a:prstGeom prst="rect">
            <a:avLst/>
          </a:prstGeom>
        </p:spPr>
      </p:pic>
      <p:sp>
        <p:nvSpPr>
          <p:cNvPr id="53" name="Text 42"/>
          <p:cNvSpPr txBox="1"/>
          <p:nvPr/>
        </p:nvSpPr>
        <p:spPr>
          <a:xfrm>
            <a:off x="9153144" y="3913632"/>
            <a:ext cx="1645920" cy="411480"/>
          </a:xfrm>
          <a:prstGeom prst="rect">
            <a:avLst/>
          </a:prstGeom>
          <a:noFill/>
          <a:ln/>
        </p:spPr>
        <p:txBody>
          <a:bodyPr wrap="square" lIns="0" tIns="0" rIns="0" bIns="0" rtlCol="0" anchor="t"/>
          <a:lstStyle/>
          <a:p>
            <a:pPr indent="0" marL="0">
              <a:buNone/>
            </a:pPr>
            <a:r>
              <a:rPr lang="en-US" sz="1800" b="1" dirty="0">
                <a:solidFill>
                  <a:srgbClr val="0B2E35"/>
                </a:solidFill>
                <a:latin typeface="Cambria" pitchFamily="34" charset="0"/>
                <a:ea typeface="Cambria" pitchFamily="34" charset="-122"/>
                <a:cs typeface="Cambria" pitchFamily="34" charset="-120"/>
              </a:rPr>
              <a:t>Next</a:t>
            </a:r>
            <a:endParaRPr lang="en-US" sz="1800" dirty="0"/>
          </a:p>
        </p:txBody>
      </p:sp>
      <p:sp>
        <p:nvSpPr>
          <p:cNvPr id="54" name="Text 43"/>
          <p:cNvSpPr/>
          <p:nvPr/>
        </p:nvSpPr>
        <p:spPr>
          <a:xfrm>
            <a:off x="10680192" y="3986784"/>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55" name="Text 44"/>
          <p:cNvSpPr txBox="1"/>
          <p:nvPr/>
        </p:nvSpPr>
        <p:spPr>
          <a:xfrm>
            <a:off x="8467344" y="4572000"/>
            <a:ext cx="3063240" cy="1508760"/>
          </a:xfrm>
          <a:prstGeom prst="rect">
            <a:avLst/>
          </a:prstGeom>
          <a:noFill/>
          <a:ln/>
        </p:spPr>
        <p:txBody>
          <a:bodyPr wrap="square" lIns="0" tIns="0" rIns="0" bIns="0" rtlCol="0" anchor="t"/>
          <a:lstStyle/>
          <a:p>
            <a:pPr indent="0" marL="0">
              <a:buNone/>
            </a:pPr>
            <a:r>
              <a:rPr lang="en-US" sz="1350" dirty="0">
                <a:solidFill>
                  <a:srgbClr val="3C5A60"/>
                </a:solidFill>
                <a:latin typeface="Calibri" pitchFamily="34" charset="0"/>
                <a:ea typeface="Calibri" pitchFamily="34" charset="-122"/>
                <a:cs typeface="Calibri" pitchFamily="34" charset="-120"/>
              </a:rPr>
              <a:t>Calibrate each zone against known weights, then use pilot recordings to tune the 15-minute limit.</a:t>
            </a:r>
            <a:endParaRPr lang="en-US" sz="1350" dirty="0"/>
          </a:p>
        </p:txBody>
      </p:sp>
      <p:sp>
        <p:nvSpPr>
          <p:cNvPr id="56" name="Text 45"/>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57" name="Text 46"/>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Built for someone who will never open an app</a:t>
            </a:r>
            <a:endParaRPr lang="en-US" sz="3400" dirty="0"/>
          </a:p>
        </p:txBody>
      </p:sp>
      <p:sp>
        <p:nvSpPr>
          <p:cNvPr id="3" name="Shape 1"/>
          <p:cNvSpPr/>
          <p:nvPr/>
        </p:nvSpPr>
        <p:spPr>
          <a:xfrm>
            <a:off x="548640" y="1371600"/>
            <a:ext cx="6720840" cy="4206240"/>
          </a:xfrm>
          <a:prstGeom prst="roundRect">
            <a:avLst>
              <a:gd name="adj" fmla="val 2609"/>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pic>
        <p:nvPicPr>
          <p:cNvPr id="4" name="Image 0" descr="SPARSH dashboard showing a Shift your weight alert for MT 1">    </p:cNvPr>
          <p:cNvPicPr>
            <a:picLocks noChangeAspect="1"/>
          </p:cNvPicPr>
          <p:nvPr/>
        </p:nvPicPr>
        <p:blipFill>
          <a:blip r:embed="rId1"/>
          <a:stretch>
            <a:fillRect/>
          </a:stretch>
        </p:blipFill>
        <p:spPr>
          <a:xfrm>
            <a:off x="658368" y="1481328"/>
            <a:ext cx="6501384" cy="3831336"/>
          </a:xfrm>
          <a:prstGeom prst="rect">
            <a:avLst/>
          </a:prstGeom>
        </p:spPr>
      </p:pic>
      <p:sp>
        <p:nvSpPr>
          <p:cNvPr id="5" name="Text 2"/>
          <p:cNvSpPr txBox="1"/>
          <p:nvPr/>
        </p:nvSpPr>
        <p:spPr>
          <a:xfrm>
            <a:off x="548640" y="5715000"/>
            <a:ext cx="6720840" cy="274320"/>
          </a:xfrm>
          <a:prstGeom prst="rect">
            <a:avLst/>
          </a:prstGeom>
          <a:noFill/>
          <a:ln/>
        </p:spPr>
        <p:txBody>
          <a:bodyPr wrap="square" lIns="0" tIns="0" rIns="0" bIns="0" rtlCol="0" anchor="t"/>
          <a:lstStyle/>
          <a:p>
            <a:pPr indent="0" marL="0">
              <a:buNone/>
            </a:pPr>
            <a:r>
              <a:rPr lang="en-US" sz="1100" i="1" dirty="0">
                <a:solidFill>
                  <a:srgbClr val="5C7C83"/>
                </a:solidFill>
                <a:latin typeface="Calibri" pitchFamily="34" charset="0"/>
                <a:ea typeface="Calibri" pitchFamily="34" charset="-122"/>
                <a:cs typeface="Calibri" pitchFamily="34" charset="-120"/>
              </a:rPr>
              <a:t>Live dashboard during testing, moments after the device alerted</a:t>
            </a:r>
            <a:endParaRPr lang="en-US" sz="1100" dirty="0"/>
          </a:p>
        </p:txBody>
      </p:sp>
      <p:sp>
        <p:nvSpPr>
          <p:cNvPr id="6" name="Shape 3"/>
          <p:cNvSpPr/>
          <p:nvPr/>
        </p:nvSpPr>
        <p:spPr>
          <a:xfrm>
            <a:off x="7635240" y="1463040"/>
            <a:ext cx="502920" cy="502920"/>
          </a:xfrm>
          <a:prstGeom prst="ellipse">
            <a:avLst/>
          </a:prstGeom>
          <a:solidFill>
            <a:srgbClr val="1A535E"/>
          </a:solidFill>
          <a:ln w="12700">
            <a:solidFill>
              <a:srgbClr val="1A535E"/>
            </a:solidFill>
            <a:prstDash val="solid"/>
          </a:ln>
        </p:spPr>
      </p:sp>
      <p:pic>
        <p:nvPicPr>
          <p:cNvPr id="7" name="Image 1" descr="user icon">    </p:cNvPr>
          <p:cNvPicPr>
            <a:picLocks noChangeAspect="1"/>
          </p:cNvPicPr>
          <p:nvPr/>
        </p:nvPicPr>
        <p:blipFill>
          <a:blip r:embed="rId2"/>
          <a:stretch>
            <a:fillRect/>
          </a:stretch>
        </p:blipFill>
        <p:spPr>
          <a:xfrm>
            <a:off x="7750912" y="1578712"/>
            <a:ext cx="271577" cy="271577"/>
          </a:xfrm>
          <a:prstGeom prst="rect">
            <a:avLst/>
          </a:prstGeom>
        </p:spPr>
      </p:pic>
      <p:sp>
        <p:nvSpPr>
          <p:cNvPr id="8" name="Text 4"/>
          <p:cNvSpPr txBox="1"/>
          <p:nvPr/>
        </p:nvSpPr>
        <p:spPr>
          <a:xfrm>
            <a:off x="8321040" y="1481328"/>
            <a:ext cx="3337560" cy="685800"/>
          </a:xfrm>
          <a:prstGeom prst="rect">
            <a:avLst/>
          </a:prstGeom>
          <a:noFill/>
          <a:ln/>
        </p:spPr>
        <p:txBody>
          <a:bodyPr wrap="square" lIns="0" tIns="0" rIns="0" bIns="0" rtlCol="0" anchor="t"/>
          <a:lstStyle/>
          <a:p>
            <a:pPr indent="0" marL="0">
              <a:buNone/>
            </a:pPr>
            <a:r>
              <a:rPr lang="en-US" sz="1500" dirty="0">
                <a:solidFill>
                  <a:srgbClr val="0B2E35"/>
                </a:solidFill>
                <a:latin typeface="Calibri" pitchFamily="34" charset="0"/>
                <a:ea typeface="Calibri" pitchFamily="34" charset="-122"/>
                <a:cs typeface="Calibri" pitchFamily="34" charset="-120"/>
              </a:rPr>
              <a:t>The wearer does nothing. The insole watches and the device buzzes.</a:t>
            </a:r>
            <a:endParaRPr lang="en-US" sz="1500" dirty="0"/>
          </a:p>
        </p:txBody>
      </p:sp>
      <p:sp>
        <p:nvSpPr>
          <p:cNvPr id="9" name="Shape 5"/>
          <p:cNvSpPr/>
          <p:nvPr/>
        </p:nvSpPr>
        <p:spPr>
          <a:xfrm>
            <a:off x="7635240" y="2359152"/>
            <a:ext cx="502920" cy="502920"/>
          </a:xfrm>
          <a:prstGeom prst="ellipse">
            <a:avLst/>
          </a:prstGeom>
          <a:solidFill>
            <a:srgbClr val="1A535E"/>
          </a:solidFill>
          <a:ln w="12700">
            <a:solidFill>
              <a:srgbClr val="1A535E"/>
            </a:solidFill>
            <a:prstDash val="solid"/>
          </a:ln>
        </p:spPr>
      </p:sp>
      <p:pic>
        <p:nvPicPr>
          <p:cNvPr id="10" name="Image 2" descr="msg icon">    </p:cNvPr>
          <p:cNvPicPr>
            <a:picLocks noChangeAspect="1"/>
          </p:cNvPicPr>
          <p:nvPr/>
        </p:nvPicPr>
        <p:blipFill>
          <a:blip r:embed="rId3"/>
          <a:stretch>
            <a:fillRect/>
          </a:stretch>
        </p:blipFill>
        <p:spPr>
          <a:xfrm>
            <a:off x="7750912" y="2474824"/>
            <a:ext cx="271577" cy="271577"/>
          </a:xfrm>
          <a:prstGeom prst="rect">
            <a:avLst/>
          </a:prstGeom>
        </p:spPr>
      </p:pic>
      <p:sp>
        <p:nvSpPr>
          <p:cNvPr id="11" name="Text 6"/>
          <p:cNvSpPr txBox="1"/>
          <p:nvPr/>
        </p:nvSpPr>
        <p:spPr>
          <a:xfrm>
            <a:off x="8321040" y="2377440"/>
            <a:ext cx="3337560" cy="685800"/>
          </a:xfrm>
          <a:prstGeom prst="rect">
            <a:avLst/>
          </a:prstGeom>
          <a:noFill/>
          <a:ln/>
        </p:spPr>
        <p:txBody>
          <a:bodyPr wrap="square" lIns="0" tIns="0" rIns="0" bIns="0" rtlCol="0" anchor="t"/>
          <a:lstStyle/>
          <a:p>
            <a:pPr indent="0" marL="0">
              <a:buNone/>
            </a:pPr>
            <a:r>
              <a:rPr lang="en-US" sz="1500" dirty="0">
                <a:solidFill>
                  <a:srgbClr val="0B2E35"/>
                </a:solidFill>
                <a:latin typeface="Calibri" pitchFamily="34" charset="0"/>
                <a:ea typeface="Calibri" pitchFamily="34" charset="-122"/>
                <a:cs typeface="Calibri" pitchFamily="34" charset="-120"/>
              </a:rPr>
              <a:t>Alerts say what to do and where: “Shift your weight — MT 1”.</a:t>
            </a:r>
            <a:endParaRPr lang="en-US" sz="1500" dirty="0"/>
          </a:p>
        </p:txBody>
      </p:sp>
      <p:sp>
        <p:nvSpPr>
          <p:cNvPr id="12" name="Shape 7"/>
          <p:cNvSpPr/>
          <p:nvPr/>
        </p:nvSpPr>
        <p:spPr>
          <a:xfrm>
            <a:off x="7635240" y="3255264"/>
            <a:ext cx="502920" cy="502920"/>
          </a:xfrm>
          <a:prstGeom prst="ellipse">
            <a:avLst/>
          </a:prstGeom>
          <a:solidFill>
            <a:srgbClr val="1A535E"/>
          </a:solidFill>
          <a:ln w="12700">
            <a:solidFill>
              <a:srgbClr val="1A535E"/>
            </a:solidFill>
            <a:prstDash val="solid"/>
          </a:ln>
        </p:spPr>
      </p:sp>
      <p:pic>
        <p:nvPicPr>
          <p:cNvPr id="13" name="Image 3" descr="steps icon">    </p:cNvPr>
          <p:cNvPicPr>
            <a:picLocks noChangeAspect="1"/>
          </p:cNvPicPr>
          <p:nvPr/>
        </p:nvPicPr>
        <p:blipFill>
          <a:blip r:embed="rId4"/>
          <a:stretch>
            <a:fillRect/>
          </a:stretch>
        </p:blipFill>
        <p:spPr>
          <a:xfrm>
            <a:off x="7750912" y="3370936"/>
            <a:ext cx="271577" cy="271577"/>
          </a:xfrm>
          <a:prstGeom prst="rect">
            <a:avLst/>
          </a:prstGeom>
        </p:spPr>
      </p:pic>
      <p:sp>
        <p:nvSpPr>
          <p:cNvPr id="14" name="Text 8"/>
          <p:cNvSpPr txBox="1"/>
          <p:nvPr/>
        </p:nvSpPr>
        <p:spPr>
          <a:xfrm>
            <a:off x="8321040" y="3273552"/>
            <a:ext cx="3337560" cy="685800"/>
          </a:xfrm>
          <a:prstGeom prst="rect">
            <a:avLst/>
          </a:prstGeom>
          <a:noFill/>
          <a:ln/>
        </p:spPr>
        <p:txBody>
          <a:bodyPr wrap="square" lIns="0" tIns="0" rIns="0" bIns="0" rtlCol="0" anchor="t"/>
          <a:lstStyle/>
          <a:p>
            <a:pPr indent="0" marL="0">
              <a:buNone/>
            </a:pPr>
            <a:r>
              <a:rPr lang="en-US" sz="1500" dirty="0">
                <a:solidFill>
                  <a:srgbClr val="0B2E35"/>
                </a:solidFill>
                <a:latin typeface="Calibri" pitchFamily="34" charset="0"/>
                <a:ea typeface="Calibri" pitchFamily="34" charset="-122"/>
                <a:cs typeface="Calibri" pitchFamily="34" charset="-120"/>
              </a:rPr>
              <a:t>Setup takes three short steps: wearer, foot, emergency contact.</a:t>
            </a:r>
            <a:endParaRPr lang="en-US" sz="1500" dirty="0"/>
          </a:p>
        </p:txBody>
      </p:sp>
      <p:sp>
        <p:nvSpPr>
          <p:cNvPr id="15" name="Shape 9"/>
          <p:cNvSpPr/>
          <p:nvPr/>
        </p:nvSpPr>
        <p:spPr>
          <a:xfrm>
            <a:off x="7635240" y="4151376"/>
            <a:ext cx="502920" cy="502920"/>
          </a:xfrm>
          <a:prstGeom prst="ellipse">
            <a:avLst/>
          </a:prstGeom>
          <a:solidFill>
            <a:srgbClr val="1A535E"/>
          </a:solidFill>
          <a:ln w="12700">
            <a:solidFill>
              <a:srgbClr val="1A535E"/>
            </a:solidFill>
            <a:prstDash val="solid"/>
          </a:ln>
        </p:spPr>
      </p:sp>
      <p:pic>
        <p:nvPicPr>
          <p:cNvPr id="16" name="Image 4" descr="globe icon">    </p:cNvPr>
          <p:cNvPicPr>
            <a:picLocks noChangeAspect="1"/>
          </p:cNvPicPr>
          <p:nvPr/>
        </p:nvPicPr>
        <p:blipFill>
          <a:blip r:embed="rId5"/>
          <a:stretch>
            <a:fillRect/>
          </a:stretch>
        </p:blipFill>
        <p:spPr>
          <a:xfrm>
            <a:off x="7750912" y="4267048"/>
            <a:ext cx="271577" cy="271577"/>
          </a:xfrm>
          <a:prstGeom prst="rect">
            <a:avLst/>
          </a:prstGeom>
        </p:spPr>
      </p:pic>
      <p:sp>
        <p:nvSpPr>
          <p:cNvPr id="17" name="Text 10"/>
          <p:cNvSpPr txBox="1"/>
          <p:nvPr/>
        </p:nvSpPr>
        <p:spPr>
          <a:xfrm>
            <a:off x="8321040" y="4169664"/>
            <a:ext cx="3337560" cy="685800"/>
          </a:xfrm>
          <a:prstGeom prst="rect">
            <a:avLst/>
          </a:prstGeom>
          <a:noFill/>
          <a:ln/>
        </p:spPr>
        <p:txBody>
          <a:bodyPr wrap="square" lIns="0" tIns="0" rIns="0" bIns="0" rtlCol="0" anchor="t"/>
          <a:lstStyle/>
          <a:p>
            <a:pPr indent="0" marL="0">
              <a:buNone/>
            </a:pPr>
            <a:r>
              <a:rPr lang="en-US" sz="1500" dirty="0">
                <a:solidFill>
                  <a:srgbClr val="0B2E35"/>
                </a:solidFill>
                <a:latin typeface="Calibri" pitchFamily="34" charset="0"/>
                <a:ea typeface="Calibri" pitchFamily="34" charset="-122"/>
                <a:cs typeface="Calibri" pitchFamily="34" charset="-120"/>
              </a:rPr>
              <a:t>Opens in any browser, with no install and no account.</a:t>
            </a:r>
            <a:endParaRPr lang="en-US" sz="1500" dirty="0"/>
          </a:p>
        </p:txBody>
      </p:sp>
      <p:sp>
        <p:nvSpPr>
          <p:cNvPr id="18" name="Shape 11"/>
          <p:cNvSpPr/>
          <p:nvPr/>
        </p:nvSpPr>
        <p:spPr>
          <a:xfrm>
            <a:off x="7635240" y="5047488"/>
            <a:ext cx="502920" cy="502920"/>
          </a:xfrm>
          <a:prstGeom prst="ellipse">
            <a:avLst/>
          </a:prstGeom>
          <a:solidFill>
            <a:srgbClr val="1A535E"/>
          </a:solidFill>
          <a:ln w="12700">
            <a:solidFill>
              <a:srgbClr val="1A535E"/>
            </a:solidFill>
            <a:prstDash val="solid"/>
          </a:ln>
        </p:spPr>
      </p:sp>
      <p:pic>
        <p:nvPicPr>
          <p:cNvPr id="19" name="Image 5" descr="clip icon">    </p:cNvPr>
          <p:cNvPicPr>
            <a:picLocks noChangeAspect="1"/>
          </p:cNvPicPr>
          <p:nvPr/>
        </p:nvPicPr>
        <p:blipFill>
          <a:blip r:embed="rId6"/>
          <a:stretch>
            <a:fillRect/>
          </a:stretch>
        </p:blipFill>
        <p:spPr>
          <a:xfrm>
            <a:off x="7750912" y="5163160"/>
            <a:ext cx="271577" cy="271577"/>
          </a:xfrm>
          <a:prstGeom prst="rect">
            <a:avLst/>
          </a:prstGeom>
        </p:spPr>
      </p:pic>
      <p:sp>
        <p:nvSpPr>
          <p:cNvPr id="20" name="Text 12"/>
          <p:cNvSpPr txBox="1"/>
          <p:nvPr/>
        </p:nvSpPr>
        <p:spPr>
          <a:xfrm>
            <a:off x="8321040" y="5065776"/>
            <a:ext cx="3337560" cy="685800"/>
          </a:xfrm>
          <a:prstGeom prst="rect">
            <a:avLst/>
          </a:prstGeom>
          <a:noFill/>
          <a:ln/>
        </p:spPr>
        <p:txBody>
          <a:bodyPr wrap="square" lIns="0" tIns="0" rIns="0" bIns="0" rtlCol="0" anchor="t"/>
          <a:lstStyle/>
          <a:p>
            <a:pPr indent="0" marL="0">
              <a:buNone/>
            </a:pPr>
            <a:r>
              <a:rPr lang="en-US" sz="1500" dirty="0">
                <a:solidFill>
                  <a:srgbClr val="0B2E35"/>
                </a:solidFill>
                <a:latin typeface="Calibri" pitchFamily="34" charset="0"/>
                <a:ea typeface="Calibri" pitchFamily="34" charset="-122"/>
                <a:cs typeface="Calibri" pitchFamily="34" charset="-120"/>
              </a:rPr>
              <a:t>A day view per zone for the clinic.</a:t>
            </a:r>
            <a:endParaRPr lang="en-US" sz="1500" dirty="0"/>
          </a:p>
        </p:txBody>
      </p:sp>
      <p:sp>
        <p:nvSpPr>
          <p:cNvPr id="21" name="Text 13"/>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22" name="Text 14"/>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Working today, pilot-ready in 12 weeks</a:t>
            </a:r>
            <a:endParaRPr lang="en-US" sz="3400" dirty="0"/>
          </a:p>
        </p:txBody>
      </p:sp>
      <p:sp>
        <p:nvSpPr>
          <p:cNvPr id="3" name="Shape 1"/>
          <p:cNvSpPr/>
          <p:nvPr/>
        </p:nvSpPr>
        <p:spPr>
          <a:xfrm>
            <a:off x="548640" y="1371600"/>
            <a:ext cx="3931920" cy="4572000"/>
          </a:xfrm>
          <a:prstGeom prst="roundRect">
            <a:avLst>
              <a:gd name="adj" fmla="val 2791"/>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 name="Text 2"/>
          <p:cNvSpPr/>
          <p:nvPr/>
        </p:nvSpPr>
        <p:spPr>
          <a:xfrm>
            <a:off x="868680" y="1645920"/>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5" name="Text 3"/>
          <p:cNvSpPr txBox="1"/>
          <p:nvPr/>
        </p:nvSpPr>
        <p:spPr>
          <a:xfrm>
            <a:off x="868680" y="2011680"/>
            <a:ext cx="3383280" cy="411480"/>
          </a:xfrm>
          <a:prstGeom prst="rect">
            <a:avLst/>
          </a:prstGeom>
          <a:noFill/>
          <a:ln/>
        </p:spPr>
        <p:txBody>
          <a:bodyPr wrap="square" lIns="0" tIns="0" rIns="0" bIns="0" rtlCol="0" anchor="t"/>
          <a:lstStyle/>
          <a:p>
            <a:pPr indent="0" marL="0">
              <a:buNone/>
            </a:pPr>
            <a:r>
              <a:rPr lang="en-US" sz="2100" b="1" dirty="0">
                <a:solidFill>
                  <a:srgbClr val="0B2E35"/>
                </a:solidFill>
                <a:latin typeface="Cambria" pitchFamily="34" charset="0"/>
                <a:ea typeface="Cambria" pitchFamily="34" charset="-122"/>
                <a:cs typeface="Cambria" pitchFamily="34" charset="-120"/>
              </a:rPr>
              <a:t>Working today</a:t>
            </a:r>
            <a:endParaRPr lang="en-US" sz="2100" dirty="0"/>
          </a:p>
        </p:txBody>
      </p:sp>
      <p:sp>
        <p:nvSpPr>
          <p:cNvPr id="6" name="Text 4"/>
          <p:cNvSpPr txBox="1"/>
          <p:nvPr/>
        </p:nvSpPr>
        <p:spPr>
          <a:xfrm>
            <a:off x="868680" y="2560320"/>
            <a:ext cx="33832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3C5A60"/>
                </a:solidFill>
                <a:latin typeface="Calibri" pitchFamily="34" charset="0"/>
                <a:ea typeface="Calibri" pitchFamily="34" charset="-122"/>
                <a:cs typeface="Calibri" pitchFamily="34" charset="-120"/>
              </a:rPr>
              <a:t>Six-zone insole on an ESP32, all off-the-shelf parts</a:t>
            </a:r>
            <a:endParaRPr lang="en-US" sz="1500" dirty="0"/>
          </a:p>
          <a:p>
            <a:pPr marL="342900" indent="-342900">
              <a:spcAft>
                <a:spcPts val="600"/>
              </a:spcAft>
              <a:buSzPct val="100000"/>
              <a:buChar char="•"/>
            </a:pPr>
            <a:r>
              <a:rPr lang="en-US" sz="1500" dirty="0">
                <a:solidFill>
                  <a:srgbClr val="3C5A60"/>
                </a:solidFill>
                <a:latin typeface="Calibri" pitchFamily="34" charset="0"/>
                <a:ea typeface="Calibri" pitchFamily="34" charset="-122"/>
                <a:cs typeface="Calibri" pitchFamily="34" charset="-120"/>
              </a:rPr>
              <a:t>Per-zone timers with half-second grace, buzzer alert</a:t>
            </a:r>
            <a:endParaRPr lang="en-US" sz="1500" dirty="0"/>
          </a:p>
          <a:p>
            <a:pPr marL="342900" indent="-342900">
              <a:spcAft>
                <a:spcPts val="600"/>
              </a:spcAft>
              <a:buSzPct val="100000"/>
              <a:buChar char="•"/>
            </a:pPr>
            <a:r>
              <a:rPr lang="en-US" sz="1500" dirty="0">
                <a:solidFill>
                  <a:srgbClr val="3C5A60"/>
                </a:solidFill>
                <a:latin typeface="Calibri" pitchFamily="34" charset="0"/>
                <a:ea typeface="Calibri" pitchFamily="34" charset="-122"/>
                <a:cs typeface="Calibri" pitchFamily="34" charset="-120"/>
              </a:rPr>
              <a:t>Dashboard that follows the device live</a:t>
            </a:r>
            <a:endParaRPr lang="en-US" sz="1500" dirty="0"/>
          </a:p>
          <a:p>
            <a:pPr marL="342900" indent="-342900">
              <a:spcAft>
                <a:spcPts val="600"/>
              </a:spcAft>
              <a:buSzPct val="100000"/>
              <a:buChar char="•"/>
            </a:pPr>
            <a:r>
              <a:rPr lang="en-US" sz="1500" i="1" dirty="0">
                <a:solidFill>
                  <a:srgbClr val="D9722F"/>
                </a:solidFill>
                <a:latin typeface="Calibri" pitchFamily="34" charset="0"/>
                <a:ea typeface="Calibri" pitchFamily="34" charset="-122"/>
                <a:cs typeface="Calibri" pitchFamily="34" charset="-120"/>
              </a:rPr>
              <a:t>Parts cost: [₹ fill in]</a:t>
            </a:r>
            <a:endParaRPr lang="en-US" sz="1500" dirty="0"/>
          </a:p>
        </p:txBody>
      </p:sp>
      <p:sp>
        <p:nvSpPr>
          <p:cNvPr id="7" name="Text 5"/>
          <p:cNvSpPr/>
          <p:nvPr/>
        </p:nvSpPr>
        <p:spPr>
          <a:xfrm>
            <a:off x="868680" y="4370832"/>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8" name="Text 6"/>
          <p:cNvSpPr txBox="1"/>
          <p:nvPr/>
        </p:nvSpPr>
        <p:spPr>
          <a:xfrm>
            <a:off x="868680" y="4709160"/>
            <a:ext cx="3383280" cy="365760"/>
          </a:xfrm>
          <a:prstGeom prst="rect">
            <a:avLst/>
          </a:prstGeom>
          <a:noFill/>
          <a:ln/>
        </p:spPr>
        <p:txBody>
          <a:bodyPr wrap="square" lIns="0" tIns="0" rIns="0" bIns="0" rtlCol="0" anchor="t"/>
          <a:lstStyle/>
          <a:p>
            <a:pPr indent="0" marL="0">
              <a:buNone/>
            </a:pPr>
            <a:r>
              <a:rPr lang="en-US" sz="1700" b="1" dirty="0">
                <a:solidFill>
                  <a:srgbClr val="0B2E35"/>
                </a:solidFill>
                <a:latin typeface="Cambria" pitchFamily="34" charset="0"/>
                <a:ea typeface="Cambria" pitchFamily="34" charset="-122"/>
                <a:cs typeface="Cambria" pitchFamily="34" charset="-120"/>
              </a:rPr>
              <a:t>Needed for the pilot</a:t>
            </a:r>
            <a:endParaRPr lang="en-US" sz="1700" dirty="0"/>
          </a:p>
        </p:txBody>
      </p:sp>
      <p:sp>
        <p:nvSpPr>
          <p:cNvPr id="9" name="Text 7"/>
          <p:cNvSpPr txBox="1"/>
          <p:nvPr/>
        </p:nvSpPr>
        <p:spPr>
          <a:xfrm>
            <a:off x="868680" y="5102352"/>
            <a:ext cx="3383280" cy="777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rgbClr val="3C5A60"/>
                </a:solidFill>
                <a:latin typeface="Calibri" pitchFamily="34" charset="0"/>
                <a:ea typeface="Calibri" pitchFamily="34" charset="-122"/>
                <a:cs typeface="Calibri" pitchFamily="34" charset="-120"/>
              </a:rPr>
              <a:t>A diabetic-foot clinic partner</a:t>
            </a:r>
            <a:endParaRPr lang="en-US" sz="1400" dirty="0"/>
          </a:p>
          <a:p>
            <a:pPr marL="342900" indent="-342900">
              <a:spcAft>
                <a:spcPts val="200"/>
              </a:spcAft>
              <a:buSzPct val="100000"/>
              <a:buChar char="•"/>
            </a:pPr>
            <a:r>
              <a:rPr lang="en-US" sz="1400" dirty="0">
                <a:solidFill>
                  <a:srgbClr val="3C5A60"/>
                </a:solidFill>
                <a:latin typeface="Calibri" pitchFamily="34" charset="0"/>
                <a:ea typeface="Calibri" pitchFamily="34" charset="-122"/>
                <a:cs typeface="Calibri" pitchFamily="34" charset="-120"/>
              </a:rPr>
              <a:t>Institutional ethics approval</a:t>
            </a:r>
            <a:endParaRPr lang="en-US" sz="1400" dirty="0"/>
          </a:p>
          <a:p>
            <a:pPr marL="342900" indent="-342900">
              <a:spcAft>
                <a:spcPts val="200"/>
              </a:spcAft>
              <a:buSzPct val="100000"/>
              <a:buChar char="•"/>
            </a:pPr>
            <a:r>
              <a:rPr lang="en-US" sz="1400" i="1" dirty="0">
                <a:solidFill>
                  <a:srgbClr val="D9722F"/>
                </a:solidFill>
                <a:latin typeface="Calibri" pitchFamily="34" charset="0"/>
                <a:ea typeface="Calibri" pitchFamily="34" charset="-122"/>
                <a:cs typeface="Calibri" pitchFamily="34" charset="-120"/>
              </a:rPr>
              <a:t>Budget for 20 units: [₹ fill in]</a:t>
            </a:r>
            <a:endParaRPr lang="en-US" sz="1400" dirty="0"/>
          </a:p>
        </p:txBody>
      </p:sp>
      <p:sp>
        <p:nvSpPr>
          <p:cNvPr id="10" name="Shape 8"/>
          <p:cNvSpPr/>
          <p:nvPr/>
        </p:nvSpPr>
        <p:spPr>
          <a:xfrm>
            <a:off x="4754880" y="1371600"/>
            <a:ext cx="6885432" cy="1371600"/>
          </a:xfrm>
          <a:prstGeom prst="roundRect">
            <a:avLst>
              <a:gd name="adj" fmla="val 8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1" name="Text 9"/>
          <p:cNvSpPr/>
          <p:nvPr/>
        </p:nvSpPr>
        <p:spPr>
          <a:xfrm>
            <a:off x="5029200" y="1627632"/>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12" name="Text 10"/>
          <p:cNvSpPr txBox="1"/>
          <p:nvPr/>
        </p:nvSpPr>
        <p:spPr>
          <a:xfrm>
            <a:off x="5029200" y="1965960"/>
            <a:ext cx="1463040" cy="411480"/>
          </a:xfrm>
          <a:prstGeom prst="rect">
            <a:avLst/>
          </a:prstGeom>
          <a:noFill/>
          <a:ln/>
        </p:spPr>
        <p:txBody>
          <a:bodyPr wrap="square" lIns="0" tIns="0" rIns="0" bIns="0" rtlCol="0" anchor="t"/>
          <a:lstStyle/>
          <a:p>
            <a:pPr indent="0" marL="0">
              <a:buNone/>
            </a:pPr>
            <a:r>
              <a:rPr lang="en-US" sz="1900" b="1" dirty="0">
                <a:solidFill>
                  <a:srgbClr val="0B2E35"/>
                </a:solidFill>
                <a:latin typeface="Cambria" pitchFamily="34" charset="0"/>
                <a:ea typeface="Cambria" pitchFamily="34" charset="-122"/>
                <a:cs typeface="Cambria" pitchFamily="34" charset="-120"/>
              </a:rPr>
              <a:t>Weeks 1–4</a:t>
            </a:r>
            <a:endParaRPr lang="en-US" sz="1900" dirty="0"/>
          </a:p>
        </p:txBody>
      </p:sp>
      <p:sp>
        <p:nvSpPr>
          <p:cNvPr id="13" name="Text 11"/>
          <p:cNvSpPr txBox="1"/>
          <p:nvPr/>
        </p:nvSpPr>
        <p:spPr>
          <a:xfrm>
            <a:off x="6675120" y="1627632"/>
            <a:ext cx="4709160" cy="914400"/>
          </a:xfrm>
          <a:prstGeom prst="rect">
            <a:avLst/>
          </a:prstGeom>
          <a:noFill/>
          <a:ln/>
        </p:spPr>
        <p:txBody>
          <a:bodyPr wrap="square" lIns="0" tIns="0" rIns="0" bIns="0" rtlCol="0" anchor="ctr"/>
          <a:lstStyle/>
          <a:p>
            <a:pPr indent="0" marL="0">
              <a:buNone/>
            </a:pPr>
            <a:r>
              <a:rPr lang="en-US" sz="1500" dirty="0">
                <a:solidFill>
                  <a:srgbClr val="3C5A60"/>
                </a:solidFill>
                <a:latin typeface="Calibri" pitchFamily="34" charset="0"/>
                <a:ea typeface="Calibri" pitchFamily="34" charset="-122"/>
                <a:cs typeface="Calibri" pitchFamily="34" charset="-120"/>
              </a:rPr>
              <a:t>Calibrate each zone with known weights. Seal the insole. Move the electronics into a battery-powered ankle pod.</a:t>
            </a:r>
            <a:endParaRPr lang="en-US" sz="1500" dirty="0"/>
          </a:p>
        </p:txBody>
      </p:sp>
      <p:sp>
        <p:nvSpPr>
          <p:cNvPr id="14" name="Shape 12"/>
          <p:cNvSpPr/>
          <p:nvPr/>
        </p:nvSpPr>
        <p:spPr>
          <a:xfrm>
            <a:off x="4754880" y="2926080"/>
            <a:ext cx="6885432" cy="1371600"/>
          </a:xfrm>
          <a:prstGeom prst="roundRect">
            <a:avLst>
              <a:gd name="adj" fmla="val 8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5" name="Text 13"/>
          <p:cNvSpPr/>
          <p:nvPr/>
        </p:nvSpPr>
        <p:spPr>
          <a:xfrm>
            <a:off x="5029200" y="3182112"/>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16" name="Text 14"/>
          <p:cNvSpPr txBox="1"/>
          <p:nvPr/>
        </p:nvSpPr>
        <p:spPr>
          <a:xfrm>
            <a:off x="5029200" y="3520440"/>
            <a:ext cx="1463040" cy="411480"/>
          </a:xfrm>
          <a:prstGeom prst="rect">
            <a:avLst/>
          </a:prstGeom>
          <a:noFill/>
          <a:ln/>
        </p:spPr>
        <p:txBody>
          <a:bodyPr wrap="square" lIns="0" tIns="0" rIns="0" bIns="0" rtlCol="0" anchor="t"/>
          <a:lstStyle/>
          <a:p>
            <a:pPr indent="0" marL="0">
              <a:buNone/>
            </a:pPr>
            <a:r>
              <a:rPr lang="en-US" sz="1900" b="1" dirty="0">
                <a:solidFill>
                  <a:srgbClr val="0B2E35"/>
                </a:solidFill>
                <a:latin typeface="Cambria" pitchFamily="34" charset="0"/>
                <a:ea typeface="Cambria" pitchFamily="34" charset="-122"/>
                <a:cs typeface="Cambria" pitchFamily="34" charset="-120"/>
              </a:rPr>
              <a:t>Weeks 5–8</a:t>
            </a:r>
            <a:endParaRPr lang="en-US" sz="1900" dirty="0"/>
          </a:p>
        </p:txBody>
      </p:sp>
      <p:sp>
        <p:nvSpPr>
          <p:cNvPr id="17" name="Text 15"/>
          <p:cNvSpPr txBox="1"/>
          <p:nvPr/>
        </p:nvSpPr>
        <p:spPr>
          <a:xfrm>
            <a:off x="6675120" y="3182112"/>
            <a:ext cx="4709160" cy="914400"/>
          </a:xfrm>
          <a:prstGeom prst="rect">
            <a:avLst/>
          </a:prstGeom>
          <a:noFill/>
          <a:ln/>
        </p:spPr>
        <p:txBody>
          <a:bodyPr wrap="square" lIns="0" tIns="0" rIns="0" bIns="0" rtlCol="0" anchor="ctr"/>
          <a:lstStyle/>
          <a:p>
            <a:pPr indent="0" marL="0">
              <a:buNone/>
            </a:pPr>
            <a:r>
              <a:rPr lang="en-US" sz="1500" dirty="0">
                <a:solidFill>
                  <a:srgbClr val="3C5A60"/>
                </a:solidFill>
                <a:latin typeface="Calibri" pitchFamily="34" charset="0"/>
                <a:ea typeface="Calibri" pitchFamily="34" charset="-122"/>
                <a:cs typeface="Calibri" pitchFamily="34" charset="-120"/>
              </a:rPr>
              <a:t>Bluetooth phone app for carers. A printable day report for clinics.</a:t>
            </a:r>
            <a:endParaRPr lang="en-US" sz="1500" dirty="0"/>
          </a:p>
        </p:txBody>
      </p:sp>
      <p:sp>
        <p:nvSpPr>
          <p:cNvPr id="18" name="Shape 16"/>
          <p:cNvSpPr/>
          <p:nvPr/>
        </p:nvSpPr>
        <p:spPr>
          <a:xfrm>
            <a:off x="4754880" y="4480560"/>
            <a:ext cx="6885432" cy="1371600"/>
          </a:xfrm>
          <a:prstGeom prst="roundRect">
            <a:avLst>
              <a:gd name="adj" fmla="val 8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9" name="Text 17"/>
          <p:cNvSpPr/>
          <p:nvPr/>
        </p:nvSpPr>
        <p:spPr>
          <a:xfrm>
            <a:off x="5029200" y="4736592"/>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20" name="Text 18"/>
          <p:cNvSpPr txBox="1"/>
          <p:nvPr/>
        </p:nvSpPr>
        <p:spPr>
          <a:xfrm>
            <a:off x="5029200" y="5074920"/>
            <a:ext cx="1463040" cy="411480"/>
          </a:xfrm>
          <a:prstGeom prst="rect">
            <a:avLst/>
          </a:prstGeom>
          <a:noFill/>
          <a:ln/>
        </p:spPr>
        <p:txBody>
          <a:bodyPr wrap="square" lIns="0" tIns="0" rIns="0" bIns="0" rtlCol="0" anchor="t"/>
          <a:lstStyle/>
          <a:p>
            <a:pPr indent="0" marL="0">
              <a:buNone/>
            </a:pPr>
            <a:r>
              <a:rPr lang="en-US" sz="1900" b="1" dirty="0">
                <a:solidFill>
                  <a:srgbClr val="0B2E35"/>
                </a:solidFill>
                <a:latin typeface="Cambria" pitchFamily="34" charset="0"/>
                <a:ea typeface="Cambria" pitchFamily="34" charset="-122"/>
                <a:cs typeface="Cambria" pitchFamily="34" charset="-120"/>
              </a:rPr>
              <a:t>Weeks 9–12</a:t>
            </a:r>
            <a:endParaRPr lang="en-US" sz="1900" dirty="0"/>
          </a:p>
        </p:txBody>
      </p:sp>
      <p:sp>
        <p:nvSpPr>
          <p:cNvPr id="21" name="Text 19"/>
          <p:cNvSpPr txBox="1"/>
          <p:nvPr/>
        </p:nvSpPr>
        <p:spPr>
          <a:xfrm>
            <a:off x="6675120" y="4736592"/>
            <a:ext cx="4709160" cy="914400"/>
          </a:xfrm>
          <a:prstGeom prst="rect">
            <a:avLst/>
          </a:prstGeom>
          <a:noFill/>
          <a:ln/>
        </p:spPr>
        <p:txBody>
          <a:bodyPr wrap="square" lIns="0" tIns="0" rIns="0" bIns="0" rtlCol="0" anchor="ctr"/>
          <a:lstStyle/>
          <a:p>
            <a:pPr indent="0" marL="0">
              <a:buNone/>
            </a:pPr>
            <a:r>
              <a:rPr lang="en-US" sz="1500" dirty="0">
                <a:solidFill>
                  <a:srgbClr val="3C5A60"/>
                </a:solidFill>
                <a:latin typeface="Calibri" pitchFamily="34" charset="0"/>
                <a:ea typeface="Calibri" pitchFamily="34" charset="-122"/>
                <a:cs typeface="Calibri" pitchFamily="34" charset="-120"/>
              </a:rPr>
              <a:t>Usability sessions with volunteers. Ethics application for a 20-person patient pilot. Build 20 pilot units.</a:t>
            </a:r>
            <a:endParaRPr lang="en-US" sz="1500" dirty="0"/>
          </a:p>
        </p:txBody>
      </p:sp>
      <p:sp>
        <p:nvSpPr>
          <p:cNvPr id="22" name="Text 20"/>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200" i="1" dirty="0">
                <a:solidFill>
                  <a:srgbClr val="5C7C83"/>
                </a:solidFill>
                <a:latin typeface="Calibri" pitchFamily="34" charset="0"/>
                <a:ea typeface="Calibri" pitchFamily="34" charset="-122"/>
                <a:cs typeface="Calibri" pitchFamily="34" charset="-120"/>
              </a:rPr>
              <a:t>Clinical use first needs a patient pilot and device classification under India's Medical Devices Rules, 2017.</a:t>
            </a:r>
            <a:endParaRPr lang="en-US" sz="1200" dirty="0"/>
          </a:p>
        </p:txBody>
      </p:sp>
      <p:sp>
        <p:nvSpPr>
          <p:cNvPr id="23" name="Text 21"/>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24" name="Text 22"/>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Impact, scale and research value</a:t>
            </a:r>
            <a:endParaRPr lang="en-US" sz="3400" dirty="0"/>
          </a:p>
        </p:txBody>
      </p:sp>
      <p:sp>
        <p:nvSpPr>
          <p:cNvPr id="3" name="Shape 1"/>
          <p:cNvSpPr/>
          <p:nvPr/>
        </p:nvSpPr>
        <p:spPr>
          <a:xfrm>
            <a:off x="548640" y="1371600"/>
            <a:ext cx="3566160" cy="4846320"/>
          </a:xfrm>
          <a:prstGeom prst="roundRect">
            <a:avLst>
              <a:gd name="adj" fmla="val 3077"/>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 name="Shape 2"/>
          <p:cNvSpPr/>
          <p:nvPr/>
        </p:nvSpPr>
        <p:spPr>
          <a:xfrm>
            <a:off x="822960" y="1627632"/>
            <a:ext cx="566928" cy="566928"/>
          </a:xfrm>
          <a:prstGeom prst="ellipse">
            <a:avLst/>
          </a:prstGeom>
          <a:solidFill>
            <a:srgbClr val="1A535E"/>
          </a:solidFill>
          <a:ln w="12700">
            <a:solidFill>
              <a:srgbClr val="1A535E"/>
            </a:solidFill>
            <a:prstDash val="solid"/>
          </a:ln>
        </p:spPr>
      </p:sp>
      <p:pic>
        <p:nvPicPr>
          <p:cNvPr id="5" name="Image 0" descr="impact icon">    </p:cNvPr>
          <p:cNvPicPr>
            <a:picLocks noChangeAspect="1"/>
          </p:cNvPicPr>
          <p:nvPr/>
        </p:nvPicPr>
        <p:blipFill>
          <a:blip r:embed="rId1"/>
          <a:stretch>
            <a:fillRect/>
          </a:stretch>
        </p:blipFill>
        <p:spPr>
          <a:xfrm>
            <a:off x="953353" y="1758025"/>
            <a:ext cx="306141" cy="306141"/>
          </a:xfrm>
          <a:prstGeom prst="rect">
            <a:avLst/>
          </a:prstGeom>
        </p:spPr>
      </p:pic>
      <p:sp>
        <p:nvSpPr>
          <p:cNvPr id="6" name="Text 3"/>
          <p:cNvSpPr txBox="1"/>
          <p:nvPr/>
        </p:nvSpPr>
        <p:spPr>
          <a:xfrm>
            <a:off x="1554480" y="1719072"/>
            <a:ext cx="23774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Industry impact</a:t>
            </a:r>
            <a:endParaRPr lang="en-US" sz="2000" dirty="0"/>
          </a:p>
        </p:txBody>
      </p:sp>
      <p:sp>
        <p:nvSpPr>
          <p:cNvPr id="7" name="Text 4"/>
          <p:cNvSpPr/>
          <p:nvPr/>
        </p:nvSpPr>
        <p:spPr>
          <a:xfrm>
            <a:off x="822960" y="2514600"/>
            <a:ext cx="841248" cy="237744"/>
          </a:xfrm>
          <a:prstGeom prst="roundRect">
            <a:avLst>
              <a:gd name="adj" fmla="val 50000"/>
            </a:avLst>
          </a:prstGeom>
          <a:solidFill>
            <a:srgbClr val="E4EBEA"/>
          </a:solidFill>
          <a:ln>
            <a:solidFill>
              <a:srgbClr val="E4EBEA"/>
            </a:solidFill>
          </a:ln>
        </p:spPr>
        <p:txBody>
          <a:bodyPr wrap="square" lIns="0" tIns="0" rIns="0" bIns="0" rtlCol="0" anchor="ctr"/>
          <a:lstStyle/>
          <a:p>
            <a:pPr algn="ctr" indent="0" marL="0">
              <a:buNone/>
            </a:pPr>
            <a:r>
              <a:rPr lang="en-US" sz="900" b="1" spc="100" kern="0" dirty="0">
                <a:solidFill>
                  <a:srgbClr val="5C7C83"/>
                </a:solidFill>
                <a:latin typeface="Calibri" pitchFamily="34" charset="0"/>
                <a:ea typeface="Calibri" pitchFamily="34" charset="-122"/>
                <a:cs typeface="Calibri" pitchFamily="34" charset="-120"/>
              </a:rPr>
              <a:t>FUTURE</a:t>
            </a:r>
            <a:endParaRPr lang="en-US" sz="900" dirty="0"/>
          </a:p>
        </p:txBody>
      </p:sp>
      <p:sp>
        <p:nvSpPr>
          <p:cNvPr id="8" name="Text 5"/>
          <p:cNvSpPr txBox="1"/>
          <p:nvPr/>
        </p:nvSpPr>
        <p:spPr>
          <a:xfrm>
            <a:off x="822960" y="286207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Sold through diabetic-foot clinics and screening camps</a:t>
            </a:r>
            <a:endParaRPr lang="en-US" sz="1450" dirty="0"/>
          </a:p>
        </p:txBody>
      </p:sp>
      <p:sp>
        <p:nvSpPr>
          <p:cNvPr id="9" name="Text 6"/>
          <p:cNvSpPr/>
          <p:nvPr/>
        </p:nvSpPr>
        <p:spPr>
          <a:xfrm>
            <a:off x="822960" y="3703320"/>
            <a:ext cx="841248" cy="237744"/>
          </a:xfrm>
          <a:prstGeom prst="roundRect">
            <a:avLst>
              <a:gd name="adj" fmla="val 50000"/>
            </a:avLst>
          </a:prstGeom>
          <a:solidFill>
            <a:srgbClr val="E4EBEA"/>
          </a:solidFill>
          <a:ln>
            <a:solidFill>
              <a:srgbClr val="E4EBEA"/>
            </a:solidFill>
          </a:ln>
        </p:spPr>
        <p:txBody>
          <a:bodyPr wrap="square" lIns="0" tIns="0" rIns="0" bIns="0" rtlCol="0" anchor="ctr"/>
          <a:lstStyle/>
          <a:p>
            <a:pPr algn="ctr" indent="0" marL="0">
              <a:buNone/>
            </a:pPr>
            <a:r>
              <a:rPr lang="en-US" sz="900" b="1" spc="100" kern="0" dirty="0">
                <a:solidFill>
                  <a:srgbClr val="5C7C83"/>
                </a:solidFill>
                <a:latin typeface="Calibri" pitchFamily="34" charset="0"/>
                <a:ea typeface="Calibri" pitchFamily="34" charset="-122"/>
                <a:cs typeface="Calibri" pitchFamily="34" charset="-120"/>
              </a:rPr>
              <a:t>FUTURE</a:t>
            </a:r>
            <a:endParaRPr lang="en-US" sz="900" dirty="0"/>
          </a:p>
        </p:txBody>
      </p:sp>
      <p:sp>
        <p:nvSpPr>
          <p:cNvPr id="10" name="Text 7"/>
          <p:cNvSpPr txBox="1"/>
          <p:nvPr/>
        </p:nvSpPr>
        <p:spPr>
          <a:xfrm>
            <a:off x="822960" y="405079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Gives clinicians loading data between visits</a:t>
            </a:r>
            <a:endParaRPr lang="en-US" sz="1450" dirty="0"/>
          </a:p>
        </p:txBody>
      </p:sp>
      <p:sp>
        <p:nvSpPr>
          <p:cNvPr id="11" name="Text 8"/>
          <p:cNvSpPr/>
          <p:nvPr/>
        </p:nvSpPr>
        <p:spPr>
          <a:xfrm>
            <a:off x="822960" y="4892040"/>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12" name="Text 9"/>
          <p:cNvSpPr txBox="1"/>
          <p:nvPr/>
        </p:nvSpPr>
        <p:spPr>
          <a:xfrm>
            <a:off x="822960" y="523951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Built from off-the-shelf parts</a:t>
            </a:r>
            <a:endParaRPr lang="en-US" sz="1450" dirty="0"/>
          </a:p>
        </p:txBody>
      </p:sp>
      <p:sp>
        <p:nvSpPr>
          <p:cNvPr id="13" name="Shape 10"/>
          <p:cNvSpPr/>
          <p:nvPr/>
        </p:nvSpPr>
        <p:spPr>
          <a:xfrm>
            <a:off x="4370832" y="1371600"/>
            <a:ext cx="3566160" cy="4846320"/>
          </a:xfrm>
          <a:prstGeom prst="roundRect">
            <a:avLst>
              <a:gd name="adj" fmla="val 3077"/>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4" name="Shape 11"/>
          <p:cNvSpPr/>
          <p:nvPr/>
        </p:nvSpPr>
        <p:spPr>
          <a:xfrm>
            <a:off x="4645152" y="1627632"/>
            <a:ext cx="566928" cy="566928"/>
          </a:xfrm>
          <a:prstGeom prst="ellipse">
            <a:avLst/>
          </a:prstGeom>
          <a:solidFill>
            <a:srgbClr val="1A535E"/>
          </a:solidFill>
          <a:ln w="12700">
            <a:solidFill>
              <a:srgbClr val="1A535E"/>
            </a:solidFill>
            <a:prstDash val="solid"/>
          </a:ln>
        </p:spPr>
      </p:sp>
      <p:pic>
        <p:nvPicPr>
          <p:cNvPr id="15" name="Image 1" descr="scale icon">    </p:cNvPr>
          <p:cNvPicPr>
            <a:picLocks noChangeAspect="1"/>
          </p:cNvPicPr>
          <p:nvPr/>
        </p:nvPicPr>
        <p:blipFill>
          <a:blip r:embed="rId2"/>
          <a:stretch>
            <a:fillRect/>
          </a:stretch>
        </p:blipFill>
        <p:spPr>
          <a:xfrm>
            <a:off x="4775545" y="1758025"/>
            <a:ext cx="306141" cy="306141"/>
          </a:xfrm>
          <a:prstGeom prst="rect">
            <a:avLst/>
          </a:prstGeom>
        </p:spPr>
      </p:pic>
      <p:sp>
        <p:nvSpPr>
          <p:cNvPr id="16" name="Text 12"/>
          <p:cNvSpPr txBox="1"/>
          <p:nvPr/>
        </p:nvSpPr>
        <p:spPr>
          <a:xfrm>
            <a:off x="5376672" y="1719072"/>
            <a:ext cx="23774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Scales cheaply</a:t>
            </a:r>
            <a:endParaRPr lang="en-US" sz="2000" dirty="0"/>
          </a:p>
        </p:txBody>
      </p:sp>
      <p:sp>
        <p:nvSpPr>
          <p:cNvPr id="17" name="Text 13"/>
          <p:cNvSpPr/>
          <p:nvPr/>
        </p:nvSpPr>
        <p:spPr>
          <a:xfrm>
            <a:off x="4645152" y="2514600"/>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18" name="Text 14"/>
          <p:cNvSpPr txBox="1"/>
          <p:nvPr/>
        </p:nvSpPr>
        <p:spPr>
          <a:xfrm>
            <a:off x="4645152" y="286207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Each update is 18 numbers, small enough for Bluetooth or Wi-Fi</a:t>
            </a:r>
            <a:endParaRPr lang="en-US" sz="1450" dirty="0"/>
          </a:p>
        </p:txBody>
      </p:sp>
      <p:sp>
        <p:nvSpPr>
          <p:cNvPr id="19" name="Text 15"/>
          <p:cNvSpPr/>
          <p:nvPr/>
        </p:nvSpPr>
        <p:spPr>
          <a:xfrm>
            <a:off x="4645152" y="3703320"/>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20" name="Text 16"/>
          <p:cNvSpPr txBox="1"/>
          <p:nvPr/>
        </p:nvSpPr>
        <p:spPr>
          <a:xfrm>
            <a:off x="4645152" y="405079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No server needed beyond a laptop</a:t>
            </a:r>
            <a:endParaRPr lang="en-US" sz="1450" dirty="0"/>
          </a:p>
        </p:txBody>
      </p:sp>
      <p:sp>
        <p:nvSpPr>
          <p:cNvPr id="21" name="Text 17"/>
          <p:cNvSpPr/>
          <p:nvPr/>
        </p:nvSpPr>
        <p:spPr>
          <a:xfrm>
            <a:off x="4645152" y="4892040"/>
            <a:ext cx="841248" cy="237744"/>
          </a:xfrm>
          <a:prstGeom prst="roundRect">
            <a:avLst>
              <a:gd name="adj" fmla="val 50000"/>
            </a:avLst>
          </a:prstGeom>
          <a:solidFill>
            <a:srgbClr val="E4EBEA"/>
          </a:solidFill>
          <a:ln>
            <a:solidFill>
              <a:srgbClr val="E4EBEA"/>
            </a:solidFill>
          </a:ln>
        </p:spPr>
        <p:txBody>
          <a:bodyPr wrap="square" lIns="0" tIns="0" rIns="0" bIns="0" rtlCol="0" anchor="ctr"/>
          <a:lstStyle/>
          <a:p>
            <a:pPr algn="ctr" indent="0" marL="0">
              <a:buNone/>
            </a:pPr>
            <a:r>
              <a:rPr lang="en-US" sz="900" b="1" spc="100" kern="0" dirty="0">
                <a:solidFill>
                  <a:srgbClr val="5C7C83"/>
                </a:solidFill>
                <a:latin typeface="Calibri" pitchFamily="34" charset="0"/>
                <a:ea typeface="Calibri" pitchFamily="34" charset="-122"/>
                <a:cs typeface="Calibri" pitchFamily="34" charset="-120"/>
              </a:rPr>
              <a:t>FUTURE</a:t>
            </a:r>
            <a:endParaRPr lang="en-US" sz="900" dirty="0"/>
          </a:p>
        </p:txBody>
      </p:sp>
      <p:sp>
        <p:nvSpPr>
          <p:cNvPr id="22" name="Text 18"/>
          <p:cNvSpPr txBox="1"/>
          <p:nvPr/>
        </p:nvSpPr>
        <p:spPr>
          <a:xfrm>
            <a:off x="4645152" y="523951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Flexible printed insole and a sealed pod</a:t>
            </a:r>
            <a:endParaRPr lang="en-US" sz="1450" dirty="0"/>
          </a:p>
        </p:txBody>
      </p:sp>
      <p:sp>
        <p:nvSpPr>
          <p:cNvPr id="23" name="Shape 19"/>
          <p:cNvSpPr/>
          <p:nvPr/>
        </p:nvSpPr>
        <p:spPr>
          <a:xfrm>
            <a:off x="8193024" y="1371600"/>
            <a:ext cx="3566160" cy="4846320"/>
          </a:xfrm>
          <a:prstGeom prst="roundRect">
            <a:avLst>
              <a:gd name="adj" fmla="val 3077"/>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4" name="Shape 20"/>
          <p:cNvSpPr/>
          <p:nvPr/>
        </p:nvSpPr>
        <p:spPr>
          <a:xfrm>
            <a:off x="8467344" y="1627632"/>
            <a:ext cx="566928" cy="566928"/>
          </a:xfrm>
          <a:prstGeom prst="ellipse">
            <a:avLst/>
          </a:prstGeom>
          <a:solidFill>
            <a:srgbClr val="1A535E"/>
          </a:solidFill>
          <a:ln w="12700">
            <a:solidFill>
              <a:srgbClr val="1A535E"/>
            </a:solidFill>
            <a:prstDash val="solid"/>
          </a:ln>
        </p:spPr>
      </p:sp>
      <p:pic>
        <p:nvPicPr>
          <p:cNvPr id="25" name="Image 2" descr="research icon">    </p:cNvPr>
          <p:cNvPicPr>
            <a:picLocks noChangeAspect="1"/>
          </p:cNvPicPr>
          <p:nvPr/>
        </p:nvPicPr>
        <p:blipFill>
          <a:blip r:embed="rId3"/>
          <a:stretch>
            <a:fillRect/>
          </a:stretch>
        </p:blipFill>
        <p:spPr>
          <a:xfrm>
            <a:off x="8597737" y="1758025"/>
            <a:ext cx="306141" cy="306141"/>
          </a:xfrm>
          <a:prstGeom prst="rect">
            <a:avLst/>
          </a:prstGeom>
        </p:spPr>
      </p:pic>
      <p:sp>
        <p:nvSpPr>
          <p:cNvPr id="26" name="Text 21"/>
          <p:cNvSpPr txBox="1"/>
          <p:nvPr/>
        </p:nvSpPr>
        <p:spPr>
          <a:xfrm>
            <a:off x="9198864" y="1719072"/>
            <a:ext cx="237744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Research value</a:t>
            </a:r>
            <a:endParaRPr lang="en-US" sz="2000" dirty="0"/>
          </a:p>
        </p:txBody>
      </p:sp>
      <p:sp>
        <p:nvSpPr>
          <p:cNvPr id="27" name="Text 22"/>
          <p:cNvSpPr/>
          <p:nvPr/>
        </p:nvSpPr>
        <p:spPr>
          <a:xfrm>
            <a:off x="8467344" y="2514600"/>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28" name="Text 23"/>
          <p:cNvSpPr txBox="1"/>
          <p:nvPr/>
        </p:nvSpPr>
        <p:spPr>
          <a:xfrm>
            <a:off x="8467344" y="286207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Test whether a 15-minute limit suits Indian footwear and daily habits</a:t>
            </a:r>
            <a:endParaRPr lang="en-US" sz="1450" dirty="0"/>
          </a:p>
        </p:txBody>
      </p:sp>
      <p:sp>
        <p:nvSpPr>
          <p:cNvPr id="29" name="Text 24"/>
          <p:cNvSpPr/>
          <p:nvPr/>
        </p:nvSpPr>
        <p:spPr>
          <a:xfrm>
            <a:off x="8467344" y="3703320"/>
            <a:ext cx="841248" cy="237744"/>
          </a:xfrm>
          <a:prstGeom prst="roundRect">
            <a:avLst>
              <a:gd name="adj" fmla="val 50000"/>
            </a:avLst>
          </a:prstGeom>
          <a:solidFill>
            <a:srgbClr val="E4EBEA"/>
          </a:solidFill>
          <a:ln>
            <a:solidFill>
              <a:srgbClr val="E4EBEA"/>
            </a:solidFill>
          </a:ln>
        </p:spPr>
        <p:txBody>
          <a:bodyPr wrap="square" lIns="0" tIns="0" rIns="0" bIns="0" rtlCol="0" anchor="ctr"/>
          <a:lstStyle/>
          <a:p>
            <a:pPr algn="ctr" indent="0" marL="0">
              <a:buNone/>
            </a:pPr>
            <a:r>
              <a:rPr lang="en-US" sz="900" b="1" spc="100" kern="0" dirty="0">
                <a:solidFill>
                  <a:srgbClr val="5C7C83"/>
                </a:solidFill>
                <a:latin typeface="Calibri" pitchFamily="34" charset="0"/>
                <a:ea typeface="Calibri" pitchFamily="34" charset="-122"/>
                <a:cs typeface="Calibri" pitchFamily="34" charset="-120"/>
              </a:rPr>
              <a:t>FUTURE</a:t>
            </a:r>
            <a:endParaRPr lang="en-US" sz="900" dirty="0"/>
          </a:p>
        </p:txBody>
      </p:sp>
      <p:sp>
        <p:nvSpPr>
          <p:cNvPr id="30" name="Text 25"/>
          <p:cNvSpPr txBox="1"/>
          <p:nvPr/>
        </p:nvSpPr>
        <p:spPr>
          <a:xfrm>
            <a:off x="8467344" y="405079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Per-zone time-under-load recordings from Indian patients</a:t>
            </a:r>
            <a:endParaRPr lang="en-US" sz="1450" dirty="0"/>
          </a:p>
        </p:txBody>
      </p:sp>
      <p:sp>
        <p:nvSpPr>
          <p:cNvPr id="31" name="Text 26"/>
          <p:cNvSpPr/>
          <p:nvPr/>
        </p:nvSpPr>
        <p:spPr>
          <a:xfrm>
            <a:off x="8467344" y="4892040"/>
            <a:ext cx="841248" cy="237744"/>
          </a:xfrm>
          <a:prstGeom prst="roundRect">
            <a:avLst>
              <a:gd name="adj" fmla="val 50000"/>
            </a:avLst>
          </a:prstGeom>
          <a:solidFill>
            <a:srgbClr val="E4EBEA"/>
          </a:solidFill>
          <a:ln>
            <a:solidFill>
              <a:srgbClr val="E4EBEA"/>
            </a:solidFill>
          </a:ln>
        </p:spPr>
        <p:txBody>
          <a:bodyPr wrap="square" lIns="0" tIns="0" rIns="0" bIns="0" rtlCol="0" anchor="ctr"/>
          <a:lstStyle/>
          <a:p>
            <a:pPr algn="ctr" indent="0" marL="0">
              <a:buNone/>
            </a:pPr>
            <a:r>
              <a:rPr lang="en-US" sz="900" b="1" spc="100" kern="0" dirty="0">
                <a:solidFill>
                  <a:srgbClr val="5C7C83"/>
                </a:solidFill>
                <a:latin typeface="Calibri" pitchFamily="34" charset="0"/>
                <a:ea typeface="Calibri" pitchFamily="34" charset="-122"/>
                <a:cs typeface="Calibri" pitchFamily="34" charset="-120"/>
              </a:rPr>
              <a:t>FUTURE</a:t>
            </a:r>
            <a:endParaRPr lang="en-US" sz="900" dirty="0"/>
          </a:p>
        </p:txBody>
      </p:sp>
      <p:sp>
        <p:nvSpPr>
          <p:cNvPr id="32" name="Text 27"/>
          <p:cNvSpPr txBox="1"/>
          <p:nvPr/>
        </p:nvSpPr>
        <p:spPr>
          <a:xfrm>
            <a:off x="8467344" y="5239512"/>
            <a:ext cx="3017520" cy="731520"/>
          </a:xfrm>
          <a:prstGeom prst="rect">
            <a:avLst/>
          </a:prstGeom>
          <a:noFill/>
          <a:ln/>
        </p:spPr>
        <p:txBody>
          <a:bodyPr wrap="square" lIns="0" tIns="0" rIns="0" bIns="0" rtlCol="0" anchor="t"/>
          <a:lstStyle/>
          <a:p>
            <a:pPr indent="0" marL="0">
              <a:buNone/>
            </a:pPr>
            <a:r>
              <a:rPr lang="en-US" sz="1450" dirty="0">
                <a:solidFill>
                  <a:srgbClr val="0B2E35"/>
                </a:solidFill>
                <a:latin typeface="Calibri" pitchFamily="34" charset="0"/>
                <a:ea typeface="Calibri" pitchFamily="34" charset="-122"/>
                <a:cs typeface="Calibri" pitchFamily="34" charset="-120"/>
              </a:rPr>
              <a:t>Link loading patterns to callus and ulcer sites</a:t>
            </a:r>
            <a:endParaRPr lang="en-US" sz="1450" dirty="0"/>
          </a:p>
        </p:txBody>
      </p:sp>
      <p:sp>
        <p:nvSpPr>
          <p:cNvPr id="33" name="Text 28"/>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34" name="Text 29"/>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One team, several disciplines</a:t>
            </a:r>
            <a:endParaRPr lang="en-US" sz="3400" dirty="0"/>
          </a:p>
        </p:txBody>
      </p:sp>
      <p:sp>
        <p:nvSpPr>
          <p:cNvPr id="3" name="Shape 1"/>
          <p:cNvSpPr/>
          <p:nvPr/>
        </p:nvSpPr>
        <p:spPr>
          <a:xfrm>
            <a:off x="548640" y="1371600"/>
            <a:ext cx="3566160" cy="2743200"/>
          </a:xfrm>
          <a:prstGeom prst="roundRect">
            <a:avLst>
              <a:gd name="adj" fmla="val 4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 name="Shape 2"/>
          <p:cNvSpPr/>
          <p:nvPr/>
        </p:nvSpPr>
        <p:spPr>
          <a:xfrm>
            <a:off x="868680" y="1645920"/>
            <a:ext cx="640080" cy="640080"/>
          </a:xfrm>
          <a:prstGeom prst="ellipse">
            <a:avLst/>
          </a:prstGeom>
          <a:solidFill>
            <a:srgbClr val="1A535E"/>
          </a:solidFill>
          <a:ln w="12700">
            <a:solidFill>
              <a:srgbClr val="1A535E"/>
            </a:solidFill>
            <a:prstDash val="solid"/>
          </a:ln>
        </p:spPr>
      </p:sp>
      <p:pic>
        <p:nvPicPr>
          <p:cNvPr id="5" name="Image 0" descr="chip icon">    </p:cNvPr>
          <p:cNvPicPr>
            <a:picLocks noChangeAspect="1"/>
          </p:cNvPicPr>
          <p:nvPr/>
        </p:nvPicPr>
        <p:blipFill>
          <a:blip r:embed="rId1"/>
          <a:stretch>
            <a:fillRect/>
          </a:stretch>
        </p:blipFill>
        <p:spPr>
          <a:xfrm>
            <a:off x="1015898" y="1793138"/>
            <a:ext cx="345643" cy="345643"/>
          </a:xfrm>
          <a:prstGeom prst="rect">
            <a:avLst/>
          </a:prstGeom>
        </p:spPr>
      </p:pic>
      <p:sp>
        <p:nvSpPr>
          <p:cNvPr id="6" name="Text 3"/>
          <p:cNvSpPr txBox="1"/>
          <p:nvPr/>
        </p:nvSpPr>
        <p:spPr>
          <a:xfrm>
            <a:off x="868680" y="2514600"/>
            <a:ext cx="2926080" cy="457200"/>
          </a:xfrm>
          <a:prstGeom prst="rect">
            <a:avLst/>
          </a:prstGeom>
          <a:noFill/>
          <a:ln/>
        </p:spPr>
        <p:txBody>
          <a:bodyPr wrap="square" lIns="0" tIns="0" rIns="0" bIns="0" rtlCol="0" anchor="t"/>
          <a:lstStyle/>
          <a:p>
            <a:pPr indent="0" marL="0">
              <a:buNone/>
            </a:pPr>
            <a:r>
              <a:rPr lang="en-US" sz="2400" b="1" i="1" dirty="0">
                <a:solidFill>
                  <a:srgbClr val="D9722F"/>
                </a:solidFill>
                <a:latin typeface="Cambria" pitchFamily="34" charset="0"/>
                <a:ea typeface="Cambria" pitchFamily="34" charset="-122"/>
                <a:cs typeface="Cambria" pitchFamily="34" charset="-120"/>
              </a:rPr>
              <a:t>[Name]</a:t>
            </a:r>
            <a:endParaRPr lang="en-US" sz="2400" dirty="0"/>
          </a:p>
        </p:txBody>
      </p:sp>
      <p:sp>
        <p:nvSpPr>
          <p:cNvPr id="7" name="Text 4"/>
          <p:cNvSpPr txBox="1"/>
          <p:nvPr/>
        </p:nvSpPr>
        <p:spPr>
          <a:xfrm>
            <a:off x="868680" y="3017520"/>
            <a:ext cx="2926080" cy="365760"/>
          </a:xfrm>
          <a:prstGeom prst="rect">
            <a:avLst/>
          </a:prstGeom>
          <a:noFill/>
          <a:ln/>
        </p:spPr>
        <p:txBody>
          <a:bodyPr wrap="square" lIns="0" tIns="0" rIns="0" bIns="0" rtlCol="0" anchor="t"/>
          <a:lstStyle/>
          <a:p>
            <a:pPr indent="0" marL="0">
              <a:buNone/>
            </a:pPr>
            <a:r>
              <a:rPr lang="en-US" sz="1600" b="1" dirty="0">
                <a:solidFill>
                  <a:srgbClr val="0B2E35"/>
                </a:solidFill>
                <a:latin typeface="Calibri" pitchFamily="34" charset="0"/>
                <a:ea typeface="Calibri" pitchFamily="34" charset="-122"/>
                <a:cs typeface="Calibri" pitchFamily="34" charset="-120"/>
              </a:rPr>
              <a:t>Firmware and sensing</a:t>
            </a:r>
            <a:endParaRPr lang="en-US" sz="1600" dirty="0"/>
          </a:p>
        </p:txBody>
      </p:sp>
      <p:sp>
        <p:nvSpPr>
          <p:cNvPr id="8" name="Text 5"/>
          <p:cNvSpPr txBox="1"/>
          <p:nvPr/>
        </p:nvSpPr>
        <p:spPr>
          <a:xfrm>
            <a:off x="868680" y="3429000"/>
            <a:ext cx="2926080" cy="365760"/>
          </a:xfrm>
          <a:prstGeom prst="rect">
            <a:avLst/>
          </a:prstGeom>
          <a:noFill/>
          <a:ln/>
        </p:spPr>
        <p:txBody>
          <a:bodyPr wrap="square" lIns="0" tIns="0" rIns="0" bIns="0" rtlCol="0" anchor="t"/>
          <a:lstStyle/>
          <a:p>
            <a:pPr indent="0" marL="0">
              <a:buNone/>
            </a:pPr>
            <a:r>
              <a:rPr lang="en-US" sz="1400" i="1" dirty="0">
                <a:solidFill>
                  <a:srgbClr val="D9722F"/>
                </a:solidFill>
                <a:latin typeface="Calibri" pitchFamily="34" charset="0"/>
                <a:ea typeface="Calibri" pitchFamily="34" charset="-122"/>
                <a:cs typeface="Calibri" pitchFamily="34" charset="-120"/>
              </a:rPr>
              <a:t>[Department, college]</a:t>
            </a:r>
            <a:endParaRPr lang="en-US" sz="1400" dirty="0"/>
          </a:p>
        </p:txBody>
      </p:sp>
      <p:sp>
        <p:nvSpPr>
          <p:cNvPr id="9" name="Shape 6"/>
          <p:cNvSpPr/>
          <p:nvPr/>
        </p:nvSpPr>
        <p:spPr>
          <a:xfrm>
            <a:off x="4370832" y="1371600"/>
            <a:ext cx="3566160" cy="2743200"/>
          </a:xfrm>
          <a:prstGeom prst="roundRect">
            <a:avLst>
              <a:gd name="adj" fmla="val 4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0" name="Shape 7"/>
          <p:cNvSpPr/>
          <p:nvPr/>
        </p:nvSpPr>
        <p:spPr>
          <a:xfrm>
            <a:off x="4690872" y="1645920"/>
            <a:ext cx="640080" cy="640080"/>
          </a:xfrm>
          <a:prstGeom prst="ellipse">
            <a:avLst/>
          </a:prstGeom>
          <a:solidFill>
            <a:srgbClr val="1A535E"/>
          </a:solidFill>
          <a:ln w="12700">
            <a:solidFill>
              <a:srgbClr val="1A535E"/>
            </a:solidFill>
            <a:prstDash val="solid"/>
          </a:ln>
        </p:spPr>
      </p:sp>
      <p:pic>
        <p:nvPicPr>
          <p:cNvPr id="11" name="Image 1" descr="tool icon">    </p:cNvPr>
          <p:cNvPicPr>
            <a:picLocks noChangeAspect="1"/>
          </p:cNvPicPr>
          <p:nvPr/>
        </p:nvPicPr>
        <p:blipFill>
          <a:blip r:embed="rId2"/>
          <a:stretch>
            <a:fillRect/>
          </a:stretch>
        </p:blipFill>
        <p:spPr>
          <a:xfrm>
            <a:off x="4838090" y="1793138"/>
            <a:ext cx="345643" cy="345643"/>
          </a:xfrm>
          <a:prstGeom prst="rect">
            <a:avLst/>
          </a:prstGeom>
        </p:spPr>
      </p:pic>
      <p:sp>
        <p:nvSpPr>
          <p:cNvPr id="12" name="Text 8"/>
          <p:cNvSpPr txBox="1"/>
          <p:nvPr/>
        </p:nvSpPr>
        <p:spPr>
          <a:xfrm>
            <a:off x="4690872" y="2514600"/>
            <a:ext cx="2926080" cy="457200"/>
          </a:xfrm>
          <a:prstGeom prst="rect">
            <a:avLst/>
          </a:prstGeom>
          <a:noFill/>
          <a:ln/>
        </p:spPr>
        <p:txBody>
          <a:bodyPr wrap="square" lIns="0" tIns="0" rIns="0" bIns="0" rtlCol="0" anchor="t"/>
          <a:lstStyle/>
          <a:p>
            <a:pPr indent="0" marL="0">
              <a:buNone/>
            </a:pPr>
            <a:r>
              <a:rPr lang="en-US" sz="2400" b="1" i="1" dirty="0">
                <a:solidFill>
                  <a:srgbClr val="D9722F"/>
                </a:solidFill>
                <a:latin typeface="Cambria" pitchFamily="34" charset="0"/>
                <a:ea typeface="Cambria" pitchFamily="34" charset="-122"/>
                <a:cs typeface="Cambria" pitchFamily="34" charset="-120"/>
              </a:rPr>
              <a:t>[Name]</a:t>
            </a:r>
            <a:endParaRPr lang="en-US" sz="2400" dirty="0"/>
          </a:p>
        </p:txBody>
      </p:sp>
      <p:sp>
        <p:nvSpPr>
          <p:cNvPr id="13" name="Text 9"/>
          <p:cNvSpPr txBox="1"/>
          <p:nvPr/>
        </p:nvSpPr>
        <p:spPr>
          <a:xfrm>
            <a:off x="4690872" y="3017520"/>
            <a:ext cx="2926080" cy="365760"/>
          </a:xfrm>
          <a:prstGeom prst="rect">
            <a:avLst/>
          </a:prstGeom>
          <a:noFill/>
          <a:ln/>
        </p:spPr>
        <p:txBody>
          <a:bodyPr wrap="square" lIns="0" tIns="0" rIns="0" bIns="0" rtlCol="0" anchor="t"/>
          <a:lstStyle/>
          <a:p>
            <a:pPr indent="0" marL="0">
              <a:buNone/>
            </a:pPr>
            <a:r>
              <a:rPr lang="en-US" sz="1600" b="1" dirty="0">
                <a:solidFill>
                  <a:srgbClr val="0B2E35"/>
                </a:solidFill>
                <a:latin typeface="Calibri" pitchFamily="34" charset="0"/>
                <a:ea typeface="Calibri" pitchFamily="34" charset="-122"/>
                <a:cs typeface="Calibri" pitchFamily="34" charset="-120"/>
              </a:rPr>
              <a:t>Hardware and fabrication</a:t>
            </a:r>
            <a:endParaRPr lang="en-US" sz="1600" dirty="0"/>
          </a:p>
        </p:txBody>
      </p:sp>
      <p:sp>
        <p:nvSpPr>
          <p:cNvPr id="14" name="Text 10"/>
          <p:cNvSpPr txBox="1"/>
          <p:nvPr/>
        </p:nvSpPr>
        <p:spPr>
          <a:xfrm>
            <a:off x="4690872" y="3429000"/>
            <a:ext cx="2926080" cy="365760"/>
          </a:xfrm>
          <a:prstGeom prst="rect">
            <a:avLst/>
          </a:prstGeom>
          <a:noFill/>
          <a:ln/>
        </p:spPr>
        <p:txBody>
          <a:bodyPr wrap="square" lIns="0" tIns="0" rIns="0" bIns="0" rtlCol="0" anchor="t"/>
          <a:lstStyle/>
          <a:p>
            <a:pPr indent="0" marL="0">
              <a:buNone/>
            </a:pPr>
            <a:r>
              <a:rPr lang="en-US" sz="1400" i="1" dirty="0">
                <a:solidFill>
                  <a:srgbClr val="D9722F"/>
                </a:solidFill>
                <a:latin typeface="Calibri" pitchFamily="34" charset="0"/>
                <a:ea typeface="Calibri" pitchFamily="34" charset="-122"/>
                <a:cs typeface="Calibri" pitchFamily="34" charset="-120"/>
              </a:rPr>
              <a:t>[Department, college]</a:t>
            </a:r>
            <a:endParaRPr lang="en-US" sz="1400" dirty="0"/>
          </a:p>
        </p:txBody>
      </p:sp>
      <p:sp>
        <p:nvSpPr>
          <p:cNvPr id="15" name="Shape 11"/>
          <p:cNvSpPr/>
          <p:nvPr/>
        </p:nvSpPr>
        <p:spPr>
          <a:xfrm>
            <a:off x="8193024" y="1371600"/>
            <a:ext cx="3566160" cy="2743200"/>
          </a:xfrm>
          <a:prstGeom prst="roundRect">
            <a:avLst>
              <a:gd name="adj" fmla="val 4000"/>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6" name="Shape 12"/>
          <p:cNvSpPr/>
          <p:nvPr/>
        </p:nvSpPr>
        <p:spPr>
          <a:xfrm>
            <a:off x="8513064" y="1645920"/>
            <a:ext cx="640080" cy="640080"/>
          </a:xfrm>
          <a:prstGeom prst="ellipse">
            <a:avLst/>
          </a:prstGeom>
          <a:solidFill>
            <a:srgbClr val="1A535E"/>
          </a:solidFill>
          <a:ln w="12700">
            <a:solidFill>
              <a:srgbClr val="1A535E"/>
            </a:solidFill>
            <a:prstDash val="solid"/>
          </a:ln>
        </p:spPr>
      </p:sp>
      <p:pic>
        <p:nvPicPr>
          <p:cNvPr id="17" name="Image 2" descr="chart icon">    </p:cNvPr>
          <p:cNvPicPr>
            <a:picLocks noChangeAspect="1"/>
          </p:cNvPicPr>
          <p:nvPr/>
        </p:nvPicPr>
        <p:blipFill>
          <a:blip r:embed="rId3"/>
          <a:stretch>
            <a:fillRect/>
          </a:stretch>
        </p:blipFill>
        <p:spPr>
          <a:xfrm>
            <a:off x="8660282" y="1793138"/>
            <a:ext cx="345643" cy="345643"/>
          </a:xfrm>
          <a:prstGeom prst="rect">
            <a:avLst/>
          </a:prstGeom>
        </p:spPr>
      </p:pic>
      <p:sp>
        <p:nvSpPr>
          <p:cNvPr id="18" name="Text 13"/>
          <p:cNvSpPr txBox="1"/>
          <p:nvPr/>
        </p:nvSpPr>
        <p:spPr>
          <a:xfrm>
            <a:off x="8513064" y="2514600"/>
            <a:ext cx="2926080" cy="457200"/>
          </a:xfrm>
          <a:prstGeom prst="rect">
            <a:avLst/>
          </a:prstGeom>
          <a:noFill/>
          <a:ln/>
        </p:spPr>
        <p:txBody>
          <a:bodyPr wrap="square" lIns="0" tIns="0" rIns="0" bIns="0" rtlCol="0" anchor="t"/>
          <a:lstStyle/>
          <a:p>
            <a:pPr indent="0" marL="0">
              <a:buNone/>
            </a:pPr>
            <a:r>
              <a:rPr lang="en-US" sz="2400" b="1" i="1" dirty="0">
                <a:solidFill>
                  <a:srgbClr val="D9722F"/>
                </a:solidFill>
                <a:latin typeface="Cambria" pitchFamily="34" charset="0"/>
                <a:ea typeface="Cambria" pitchFamily="34" charset="-122"/>
                <a:cs typeface="Cambria" pitchFamily="34" charset="-120"/>
              </a:rPr>
              <a:t>[Name]</a:t>
            </a:r>
            <a:endParaRPr lang="en-US" sz="2400" dirty="0"/>
          </a:p>
        </p:txBody>
      </p:sp>
      <p:sp>
        <p:nvSpPr>
          <p:cNvPr id="19" name="Text 14"/>
          <p:cNvSpPr txBox="1"/>
          <p:nvPr/>
        </p:nvSpPr>
        <p:spPr>
          <a:xfrm>
            <a:off x="8513064" y="3017520"/>
            <a:ext cx="2926080" cy="365760"/>
          </a:xfrm>
          <a:prstGeom prst="rect">
            <a:avLst/>
          </a:prstGeom>
          <a:noFill/>
          <a:ln/>
        </p:spPr>
        <p:txBody>
          <a:bodyPr wrap="square" lIns="0" tIns="0" rIns="0" bIns="0" rtlCol="0" anchor="t"/>
          <a:lstStyle/>
          <a:p>
            <a:pPr indent="0" marL="0">
              <a:buNone/>
            </a:pPr>
            <a:r>
              <a:rPr lang="en-US" sz="1600" b="1" dirty="0">
                <a:solidFill>
                  <a:srgbClr val="0B2E35"/>
                </a:solidFill>
                <a:latin typeface="Calibri" pitchFamily="34" charset="0"/>
                <a:ea typeface="Calibri" pitchFamily="34" charset="-122"/>
                <a:cs typeface="Calibri" pitchFamily="34" charset="-120"/>
              </a:rPr>
              <a:t>Data and dashboard</a:t>
            </a:r>
            <a:endParaRPr lang="en-US" sz="1600" dirty="0"/>
          </a:p>
        </p:txBody>
      </p:sp>
      <p:sp>
        <p:nvSpPr>
          <p:cNvPr id="20" name="Text 15"/>
          <p:cNvSpPr txBox="1"/>
          <p:nvPr/>
        </p:nvSpPr>
        <p:spPr>
          <a:xfrm>
            <a:off x="8513064" y="3429000"/>
            <a:ext cx="2926080" cy="365760"/>
          </a:xfrm>
          <a:prstGeom prst="rect">
            <a:avLst/>
          </a:prstGeom>
          <a:noFill/>
          <a:ln/>
        </p:spPr>
        <p:txBody>
          <a:bodyPr wrap="square" lIns="0" tIns="0" rIns="0" bIns="0" rtlCol="0" anchor="t"/>
          <a:lstStyle/>
          <a:p>
            <a:pPr indent="0" marL="0">
              <a:buNone/>
            </a:pPr>
            <a:r>
              <a:rPr lang="en-US" sz="1400" i="1" dirty="0">
                <a:solidFill>
                  <a:srgbClr val="D9722F"/>
                </a:solidFill>
                <a:latin typeface="Calibri" pitchFamily="34" charset="0"/>
                <a:ea typeface="Calibri" pitchFamily="34" charset="-122"/>
                <a:cs typeface="Calibri" pitchFamily="34" charset="-120"/>
              </a:rPr>
              <a:t>[Department, college]</a:t>
            </a:r>
            <a:endParaRPr lang="en-US" sz="1400" dirty="0"/>
          </a:p>
        </p:txBody>
      </p:sp>
      <p:sp>
        <p:nvSpPr>
          <p:cNvPr id="21" name="Shape 16"/>
          <p:cNvSpPr/>
          <p:nvPr/>
        </p:nvSpPr>
        <p:spPr>
          <a:xfrm>
            <a:off x="548640" y="4389120"/>
            <a:ext cx="11091672" cy="1783080"/>
          </a:xfrm>
          <a:prstGeom prst="roundRect">
            <a:avLst>
              <a:gd name="adj" fmla="val 6154"/>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22" name="Shape 17"/>
          <p:cNvSpPr/>
          <p:nvPr/>
        </p:nvSpPr>
        <p:spPr>
          <a:xfrm>
            <a:off x="868680" y="4663440"/>
            <a:ext cx="566928" cy="566928"/>
          </a:xfrm>
          <a:prstGeom prst="ellipse">
            <a:avLst/>
          </a:prstGeom>
          <a:solidFill>
            <a:srgbClr val="E8A33A"/>
          </a:solidFill>
          <a:ln w="12700">
            <a:solidFill>
              <a:srgbClr val="E8A33A"/>
            </a:solidFill>
            <a:prstDash val="solid"/>
          </a:ln>
        </p:spPr>
      </p:sp>
      <p:pic>
        <p:nvPicPr>
          <p:cNvPr id="23" name="Image 3" descr="user icon">    </p:cNvPr>
          <p:cNvPicPr>
            <a:picLocks noChangeAspect="1"/>
          </p:cNvPicPr>
          <p:nvPr/>
        </p:nvPicPr>
        <p:blipFill>
          <a:blip r:embed="rId4"/>
          <a:stretch>
            <a:fillRect/>
          </a:stretch>
        </p:blipFill>
        <p:spPr>
          <a:xfrm>
            <a:off x="999073" y="4793833"/>
            <a:ext cx="306141" cy="306141"/>
          </a:xfrm>
          <a:prstGeom prst="rect">
            <a:avLst/>
          </a:prstGeom>
        </p:spPr>
      </p:pic>
      <p:sp>
        <p:nvSpPr>
          <p:cNvPr id="24" name="Text 18"/>
          <p:cNvSpPr txBox="1"/>
          <p:nvPr/>
        </p:nvSpPr>
        <p:spPr>
          <a:xfrm>
            <a:off x="1691640" y="4709160"/>
            <a:ext cx="914400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How we worked together</a:t>
            </a:r>
            <a:endParaRPr lang="en-US" sz="2000" dirty="0"/>
          </a:p>
        </p:txBody>
      </p:sp>
      <p:sp>
        <p:nvSpPr>
          <p:cNvPr id="25" name="Text 19"/>
          <p:cNvSpPr txBox="1"/>
          <p:nvPr/>
        </p:nvSpPr>
        <p:spPr>
          <a:xfrm>
            <a:off x="1691640" y="5212080"/>
            <a:ext cx="9601200" cy="731520"/>
          </a:xfrm>
          <a:prstGeom prst="rect">
            <a:avLst/>
          </a:prstGeom>
          <a:noFill/>
          <a:ln/>
        </p:spPr>
        <p:txBody>
          <a:bodyPr wrap="square" lIns="0" tIns="0" rIns="0" bIns="0" rtlCol="0" anchor="t"/>
          <a:lstStyle/>
          <a:p>
            <a:pPr indent="0" marL="0">
              <a:buNone/>
            </a:pPr>
            <a:r>
              <a:rPr lang="en-US" sz="1500" i="1" dirty="0">
                <a:solidFill>
                  <a:srgbClr val="D9722F"/>
                </a:solidFill>
                <a:latin typeface="Calibri" pitchFamily="34" charset="0"/>
                <a:ea typeface="Calibri" pitchFamily="34" charset="-122"/>
                <a:cs typeface="Calibri" pitchFamily="34" charset="-120"/>
              </a:rPr>
              <a:t>[Colleges and departments on the team, how you split the work, and any doctor or podiatrist you consulted]</a:t>
            </a:r>
            <a:endParaRPr lang="en-US" sz="1500" dirty="0"/>
          </a:p>
        </p:txBody>
      </p:sp>
      <p:sp>
        <p:nvSpPr>
          <p:cNvPr id="26" name="Text 20"/>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27" name="Text 21"/>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What changed since the last review</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754880"/>
                <a:gridCol w="6336792"/>
              </a:tblGrid>
              <a:tr h="566928">
                <a:tc>
                  <a:txBody>
                    <a:bodyPr/>
                    <a:lstStyle/>
                    <a:p>
                      <a:pPr indent="0" marL="0">
                        <a:buNone/>
                      </a:pPr>
                      <a:r>
                        <a:rPr lang="en-US" sz="1600" b="1" dirty="0">
                          <a:solidFill>
                            <a:srgbClr val="F2F5F4"/>
                          </a:solidFill>
                          <a:latin typeface="Cambria" pitchFamily="34" charset="0"/>
                          <a:ea typeface="Cambria" pitchFamily="34" charset="-122"/>
                          <a:cs typeface="Cambria" pitchFamily="34" charset="-120"/>
                        </a:rPr>
                        <a:t>Round 1 submission</a:t>
                      </a:r>
                      <a:endParaRPr lang="en-US" sz="1600" dirty="0">
                        <a:latin typeface="Cambria" charset="0"/>
                        <a:ea typeface="Cambria" charset="0"/>
                        <a:cs typeface="Cambria"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5C7C83"/>
                    </a:solidFill>
                  </a:tcPr>
                </a:tc>
                <a:tc>
                  <a:txBody>
                    <a:bodyPr/>
                    <a:lstStyle/>
                    <a:p>
                      <a:pPr indent="0" marL="0">
                        <a:buNone/>
                      </a:pPr>
                      <a:r>
                        <a:rPr lang="en-US" sz="1600" b="1" dirty="0">
                          <a:solidFill>
                            <a:srgbClr val="F2F5F4"/>
                          </a:solidFill>
                          <a:latin typeface="Cambria" pitchFamily="34" charset="0"/>
                          <a:ea typeface="Cambria" pitchFamily="34" charset="-122"/>
                          <a:cs typeface="Cambria" pitchFamily="34" charset="-120"/>
                        </a:rPr>
                        <a:t>Final build</a:t>
                      </a:r>
                      <a:endParaRPr lang="en-US" sz="1600" dirty="0">
                        <a:latin typeface="Cambria" charset="0"/>
                        <a:ea typeface="Cambria" charset="0"/>
                        <a:cs typeface="Cambria"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1A535E"/>
                    </a:solidFill>
                  </a:tcPr>
                </a:tc>
              </a:tr>
              <a:tr h="566928">
                <a:tc>
                  <a:txBody>
                    <a:bodyPr/>
                    <a:lstStyle/>
                    <a:p>
                      <a:pPr indent="0" marL="0">
                        <a:buNone/>
                      </a:pPr>
                      <a:r>
                        <a:rPr lang="en-US" sz="1500" dirty="0">
                          <a:solidFill>
                            <a:srgbClr val="5C7C83"/>
                          </a:solidFill>
                          <a:latin typeface="Calibri" pitchFamily="34" charset="0"/>
                          <a:ea typeface="Calibri" pitchFamily="34" charset="-122"/>
                          <a:cs typeface="Calibri" pitchFamily="34" charset="-120"/>
                        </a:rPr>
                        <a:t>Designed and costed; nothing built yet</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500" b="1" dirty="0">
                          <a:solidFill>
                            <a:srgbClr val="0B2E35"/>
                          </a:solidFill>
                          <a:latin typeface="Calibri" pitchFamily="34" charset="0"/>
                          <a:ea typeface="Calibri" pitchFamily="34" charset="-122"/>
                          <a:cs typeface="Calibri" pitchFamily="34" charset="-120"/>
                        </a:rPr>
                        <a:t>Working insole, firmware and live dashboard</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5C7C83"/>
                          </a:solidFill>
                          <a:latin typeface="Calibri" pitchFamily="34" charset="0"/>
                          <a:ea typeface="Calibri" pitchFamily="34" charset="-122"/>
                          <a:cs typeface="Calibri" pitchFamily="34" charset="-120"/>
                        </a:rPr>
                        <a:t>Eight zones through a 16-channel multiplexer</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500" b="1" dirty="0">
                          <a:solidFill>
                            <a:srgbClr val="0B2E35"/>
                          </a:solidFill>
                          <a:latin typeface="Calibri" pitchFamily="34" charset="0"/>
                          <a:ea typeface="Calibri" pitchFamily="34" charset="-122"/>
                          <a:cs typeface="Calibri" pitchFamily="34" charset="-120"/>
                        </a:rPr>
                        <a:t>Six zones read directly by the ESP32</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5C7C83"/>
                          </a:solidFill>
                          <a:latin typeface="Calibri" pitchFamily="34" charset="0"/>
                          <a:ea typeface="Calibri" pitchFamily="34" charset="-122"/>
                          <a:cs typeface="Calibri" pitchFamily="34" charset="-120"/>
                        </a:rPr>
                        <a:t>Alert logic described on a slide</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500" b="1" dirty="0">
                          <a:solidFill>
                            <a:srgbClr val="0B2E35"/>
                          </a:solidFill>
                          <a:latin typeface="Calibri" pitchFamily="34" charset="0"/>
                          <a:ea typeface="Calibri" pitchFamily="34" charset="-122"/>
                          <a:cs typeface="Calibri" pitchFamily="34" charset="-120"/>
                        </a:rPr>
                        <a:t>Per-zone timers with a half-second grace period, running on the device</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5C7C83"/>
                          </a:solidFill>
                          <a:latin typeface="Calibri" pitchFamily="34" charset="0"/>
                          <a:ea typeface="Calibri" pitchFamily="34" charset="-122"/>
                          <a:cs typeface="Calibri" pitchFamily="34" charset="-120"/>
                        </a:rPr>
                        <a:t>Live heatmap planned</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500" b="1" dirty="0">
                          <a:solidFill>
                            <a:srgbClr val="0B2E35"/>
                          </a:solidFill>
                          <a:latin typeface="Calibri" pitchFamily="34" charset="0"/>
                          <a:ea typeface="Calibri" pitchFamily="34" charset="-122"/>
                          <a:cs typeface="Calibri" pitchFamily="34" charset="-120"/>
                        </a:rPr>
                        <a:t>Dashboard shows the device's own timers, 5–18 ms behind the buzz in a one-laptop test</a:t>
                      </a:r>
                      <a:endParaRPr lang="en-US" sz="1500" dirty="0">
                        <a:latin typeface="Calibri" charset="0"/>
                        <a:ea typeface="Calibri" charset="0"/>
                        <a:cs typeface="Calibri" charset="0"/>
                      </a:endParaRPr>
                    </a:p>
                  </a:txBody>
                  <a:tcPr marL="182880" marR="18288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572000"/>
            <a:ext cx="11091672" cy="1645920"/>
          </a:xfrm>
          <a:prstGeom prst="roundRect">
            <a:avLst>
              <a:gd name="adj" fmla="val 6667"/>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5" name="Shape 2"/>
          <p:cNvSpPr/>
          <p:nvPr/>
        </p:nvSpPr>
        <p:spPr>
          <a:xfrm>
            <a:off x="868680" y="4846320"/>
            <a:ext cx="566928" cy="566928"/>
          </a:xfrm>
          <a:prstGeom prst="ellipse">
            <a:avLst/>
          </a:prstGeom>
          <a:solidFill>
            <a:srgbClr val="E8A33A"/>
          </a:solidFill>
          <a:ln w="12700">
            <a:solidFill>
              <a:srgbClr val="E8A33A"/>
            </a:solidFill>
            <a:prstDash val="solid"/>
          </a:ln>
        </p:spPr>
      </p:sp>
      <p:pic>
        <p:nvPicPr>
          <p:cNvPr id="6" name="Image 0" descr="check icon">    </p:cNvPr>
          <p:cNvPicPr>
            <a:picLocks noChangeAspect="1"/>
          </p:cNvPicPr>
          <p:nvPr/>
        </p:nvPicPr>
        <p:blipFill>
          <a:blip r:embed="rId1"/>
          <a:stretch>
            <a:fillRect/>
          </a:stretch>
        </p:blipFill>
        <p:spPr>
          <a:xfrm>
            <a:off x="999073" y="4976713"/>
            <a:ext cx="306141" cy="306141"/>
          </a:xfrm>
          <a:prstGeom prst="rect">
            <a:avLst/>
          </a:prstGeom>
        </p:spPr>
      </p:pic>
      <p:sp>
        <p:nvSpPr>
          <p:cNvPr id="7" name="Text 3"/>
          <p:cNvSpPr txBox="1"/>
          <p:nvPr/>
        </p:nvSpPr>
        <p:spPr>
          <a:xfrm>
            <a:off x="1691640" y="4873752"/>
            <a:ext cx="9144000" cy="411480"/>
          </a:xfrm>
          <a:prstGeom prst="rect">
            <a:avLst/>
          </a:prstGeom>
          <a:noFill/>
          <a:ln/>
        </p:spPr>
        <p:txBody>
          <a:bodyPr wrap="square" lIns="0" tIns="0" rIns="0" bIns="0" rtlCol="0" anchor="t"/>
          <a:lstStyle/>
          <a:p>
            <a:pPr indent="0" marL="0">
              <a:buNone/>
            </a:pPr>
            <a:r>
              <a:rPr lang="en-US" sz="2000" b="1" dirty="0">
                <a:solidFill>
                  <a:srgbClr val="0B2E35"/>
                </a:solidFill>
                <a:latin typeface="Cambria" pitchFamily="34" charset="0"/>
                <a:ea typeface="Cambria" pitchFamily="34" charset="-122"/>
                <a:cs typeface="Cambria" pitchFamily="34" charset="-120"/>
              </a:rPr>
              <a:t>Reviewer feedback and what we did</a:t>
            </a:r>
            <a:endParaRPr lang="en-US" sz="2000" dirty="0"/>
          </a:p>
        </p:txBody>
      </p:sp>
      <p:sp>
        <p:nvSpPr>
          <p:cNvPr id="8" name="Text 4"/>
          <p:cNvSpPr txBox="1"/>
          <p:nvPr/>
        </p:nvSpPr>
        <p:spPr>
          <a:xfrm>
            <a:off x="1691640" y="5349240"/>
            <a:ext cx="9601200" cy="685800"/>
          </a:xfrm>
          <a:prstGeom prst="rect">
            <a:avLst/>
          </a:prstGeom>
          <a:noFill/>
          <a:ln/>
        </p:spPr>
        <p:txBody>
          <a:bodyPr wrap="square" lIns="0" tIns="0" rIns="0" bIns="0" rtlCol="0" anchor="t"/>
          <a:lstStyle/>
          <a:p>
            <a:pPr indent="0" marL="0">
              <a:spcAft>
                <a:spcPts val="400"/>
              </a:spcAft>
              <a:buNone/>
            </a:pPr>
            <a:r>
              <a:rPr lang="en-US" sz="1500" i="1" dirty="0">
                <a:solidFill>
                  <a:srgbClr val="D9722F"/>
                </a:solidFill>
                <a:latin typeface="Calibri" pitchFamily="34" charset="0"/>
                <a:ea typeface="Calibri" pitchFamily="34" charset="-122"/>
                <a:cs typeface="Calibri" pitchFamily="34" charset="-120"/>
              </a:rPr>
              <a:t>[Suggestion 1]</a:t>
            </a:r>
            <a:pPr indent="0" marL="0">
              <a:spcAft>
                <a:spcPts val="400"/>
              </a:spcAft>
              <a:buNone/>
            </a:pPr>
            <a:r>
              <a:rPr lang="en-US" sz="1500" dirty="0">
                <a:solidFill>
                  <a:srgbClr val="3C5A60"/>
                </a:solidFill>
                <a:latin typeface="Calibri" pitchFamily="34" charset="0"/>
                <a:ea typeface="Calibri" pitchFamily="34" charset="-122"/>
                <a:cs typeface="Calibri" pitchFamily="34" charset="-120"/>
              </a:rPr>
              <a:t>  →  </a:t>
            </a:r>
            <a:pPr indent="0" marL="0">
              <a:spcAft>
                <a:spcPts val="400"/>
              </a:spcAft>
              <a:buNone/>
            </a:pPr>
            <a:r>
              <a:rPr lang="en-US" sz="1500" i="1" dirty="0">
                <a:solidFill>
                  <a:srgbClr val="D9722F"/>
                </a:solidFill>
                <a:latin typeface="Calibri" pitchFamily="34" charset="0"/>
                <a:ea typeface="Calibri" pitchFamily="34" charset="-122"/>
                <a:cs typeface="Calibri" pitchFamily="34" charset="-120"/>
              </a:rPr>
              <a:t>[What we changed]</a:t>
            </a:r>
            <a:pPr indent="0" marL="0">
              <a:spcAft>
                <a:spcPts val="400"/>
              </a:spcAft>
              <a:buNone/>
            </a:pPr>
            <a:endParaRPr lang="en-US" sz="1500" dirty="0"/>
          </a:p>
          <a:p>
            <a:pPr indent="0" marL="0">
              <a:spcAft>
                <a:spcPts val="400"/>
              </a:spcAft>
              <a:buNone/>
            </a:pPr>
            <a:r>
              <a:rPr lang="en-US" sz="1500" i="1" dirty="0">
                <a:solidFill>
                  <a:srgbClr val="D9722F"/>
                </a:solidFill>
                <a:latin typeface="Calibri" pitchFamily="34" charset="0"/>
                <a:ea typeface="Calibri" pitchFamily="34" charset="-122"/>
                <a:cs typeface="Calibri" pitchFamily="34" charset="-120"/>
              </a:rPr>
              <a:t>[Suggestion 2]</a:t>
            </a:r>
            <a:pPr indent="0" marL="0">
              <a:spcAft>
                <a:spcPts val="400"/>
              </a:spcAft>
              <a:buNone/>
            </a:pPr>
            <a:r>
              <a:rPr lang="en-US" sz="1500" dirty="0">
                <a:solidFill>
                  <a:srgbClr val="3C5A60"/>
                </a:solidFill>
                <a:latin typeface="Calibri" pitchFamily="34" charset="0"/>
                <a:ea typeface="Calibri" pitchFamily="34" charset="-122"/>
                <a:cs typeface="Calibri" pitchFamily="34" charset="-120"/>
              </a:rPr>
              <a:t>  →  </a:t>
            </a:r>
            <a:pPr indent="0" marL="0">
              <a:spcAft>
                <a:spcPts val="400"/>
              </a:spcAft>
              <a:buNone/>
            </a:pPr>
            <a:r>
              <a:rPr lang="en-US" sz="1500" i="1" dirty="0">
                <a:solidFill>
                  <a:srgbClr val="D9722F"/>
                </a:solidFill>
                <a:latin typeface="Calibri" pitchFamily="34" charset="0"/>
                <a:ea typeface="Calibri" pitchFamily="34" charset="-122"/>
                <a:cs typeface="Calibri" pitchFamily="34" charset="-120"/>
              </a:rPr>
              <a:t>[What we changed]</a:t>
            </a:r>
            <a:endParaRPr lang="en-US" sz="1500" dirty="0"/>
          </a:p>
        </p:txBody>
      </p:sp>
      <p:sp>
        <p:nvSpPr>
          <p:cNvPr id="9" name="Text 5"/>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10" name="Text 6"/>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0B2E35"/>
                </a:solidFill>
                <a:latin typeface="Cambria" pitchFamily="34" charset="0"/>
                <a:ea typeface="Cambria" pitchFamily="34" charset="-122"/>
                <a:cs typeface="Cambria" pitchFamily="34" charset="-120"/>
              </a:rPr>
              <a:t>Tested before it touched the hardware</a:t>
            </a:r>
            <a:endParaRPr lang="en-US" sz="3400" dirty="0"/>
          </a:p>
        </p:txBody>
      </p:sp>
      <p:sp>
        <p:nvSpPr>
          <p:cNvPr id="3" name="Shape 1"/>
          <p:cNvSpPr/>
          <p:nvPr/>
        </p:nvSpPr>
        <p:spPr>
          <a:xfrm>
            <a:off x="548640" y="1371600"/>
            <a:ext cx="5212080" cy="1444752"/>
          </a:xfrm>
          <a:prstGeom prst="roundRect">
            <a:avLst>
              <a:gd name="adj" fmla="val 7595"/>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4" name="Text 2"/>
          <p:cNvSpPr txBox="1"/>
          <p:nvPr/>
        </p:nvSpPr>
        <p:spPr>
          <a:xfrm>
            <a:off x="822960" y="1627632"/>
            <a:ext cx="2103120" cy="822960"/>
          </a:xfrm>
          <a:prstGeom prst="rect">
            <a:avLst/>
          </a:prstGeom>
          <a:noFill/>
          <a:ln/>
        </p:spPr>
        <p:txBody>
          <a:bodyPr wrap="square" lIns="0" tIns="0" rIns="0" bIns="0" rtlCol="0" anchor="ctr"/>
          <a:lstStyle/>
          <a:p>
            <a:pPr indent="0" marL="0">
              <a:buNone/>
            </a:pPr>
            <a:r>
              <a:rPr lang="en-US" sz="3600" b="1" dirty="0">
                <a:solidFill>
                  <a:srgbClr val="1A535E"/>
                </a:solidFill>
                <a:latin typeface="Cambria" pitchFamily="34" charset="0"/>
                <a:ea typeface="Cambria" pitchFamily="34" charset="-122"/>
                <a:cs typeface="Cambria" pitchFamily="34" charset="-120"/>
              </a:rPr>
              <a:t>5–18 ms</a:t>
            </a:r>
            <a:endParaRPr lang="en-US" sz="3600" dirty="0"/>
          </a:p>
        </p:txBody>
      </p:sp>
      <p:sp>
        <p:nvSpPr>
          <p:cNvPr id="5" name="Text 3"/>
          <p:cNvSpPr txBox="1"/>
          <p:nvPr/>
        </p:nvSpPr>
        <p:spPr>
          <a:xfrm>
            <a:off x="2926080" y="1572768"/>
            <a:ext cx="2606040" cy="1051560"/>
          </a:xfrm>
          <a:prstGeom prst="rect">
            <a:avLst/>
          </a:prstGeom>
          <a:noFill/>
          <a:ln/>
        </p:spPr>
        <p:txBody>
          <a:bodyPr wrap="square" lIns="0" tIns="0" rIns="0" bIns="0" rtlCol="0" anchor="ctr"/>
          <a:lstStyle/>
          <a:p>
            <a:pPr indent="0" marL="0">
              <a:buNone/>
            </a:pPr>
            <a:r>
              <a:rPr lang="en-US" sz="1350" dirty="0">
                <a:solidFill>
                  <a:srgbClr val="3C5A60"/>
                </a:solidFill>
                <a:latin typeface="Calibri" pitchFamily="34" charset="0"/>
                <a:ea typeface="Calibri" pitchFamily="34" charset="-122"/>
                <a:cs typeface="Calibri" pitchFamily="34" charset="-120"/>
              </a:rPr>
              <a:t>Dashboard lag behind the buzz: firmware to UDP to browser on one laptop, simulated sensors</a:t>
            </a:r>
            <a:endParaRPr lang="en-US" sz="1350" dirty="0"/>
          </a:p>
        </p:txBody>
      </p:sp>
      <p:sp>
        <p:nvSpPr>
          <p:cNvPr id="6" name="Shape 4"/>
          <p:cNvSpPr/>
          <p:nvPr/>
        </p:nvSpPr>
        <p:spPr>
          <a:xfrm>
            <a:off x="548640" y="2999232"/>
            <a:ext cx="5212080" cy="1444752"/>
          </a:xfrm>
          <a:prstGeom prst="roundRect">
            <a:avLst>
              <a:gd name="adj" fmla="val 7595"/>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7" name="Text 5"/>
          <p:cNvSpPr txBox="1"/>
          <p:nvPr/>
        </p:nvSpPr>
        <p:spPr>
          <a:xfrm>
            <a:off x="822960" y="3255264"/>
            <a:ext cx="2103120" cy="822960"/>
          </a:xfrm>
          <a:prstGeom prst="rect">
            <a:avLst/>
          </a:prstGeom>
          <a:noFill/>
          <a:ln/>
        </p:spPr>
        <p:txBody>
          <a:bodyPr wrap="square" lIns="0" tIns="0" rIns="0" bIns="0" rtlCol="0" anchor="ctr"/>
          <a:lstStyle/>
          <a:p>
            <a:pPr indent="0" marL="0">
              <a:buNone/>
            </a:pPr>
            <a:r>
              <a:rPr lang="en-US" sz="3600" b="1" dirty="0">
                <a:solidFill>
                  <a:srgbClr val="1A535E"/>
                </a:solidFill>
                <a:latin typeface="Cambria" pitchFamily="34" charset="0"/>
                <a:ea typeface="Cambria" pitchFamily="34" charset="-122"/>
                <a:cs typeface="Cambria" pitchFamily="34" charset="-120"/>
              </a:rPr>
              <a:t>0 of 276</a:t>
            </a:r>
            <a:endParaRPr lang="en-US" sz="3600" dirty="0"/>
          </a:p>
        </p:txBody>
      </p:sp>
      <p:sp>
        <p:nvSpPr>
          <p:cNvPr id="8" name="Text 6"/>
          <p:cNvSpPr txBox="1"/>
          <p:nvPr/>
        </p:nvSpPr>
        <p:spPr>
          <a:xfrm>
            <a:off x="2926080" y="3200400"/>
            <a:ext cx="2606040" cy="1051560"/>
          </a:xfrm>
          <a:prstGeom prst="rect">
            <a:avLst/>
          </a:prstGeom>
          <a:noFill/>
          <a:ln/>
        </p:spPr>
        <p:txBody>
          <a:bodyPr wrap="square" lIns="0" tIns="0" rIns="0" bIns="0" rtlCol="0" anchor="ctr"/>
          <a:lstStyle/>
          <a:p>
            <a:pPr indent="0" marL="0">
              <a:buNone/>
            </a:pPr>
            <a:r>
              <a:rPr lang="en-US" sz="1350" dirty="0">
                <a:solidFill>
                  <a:srgbClr val="3C5A60"/>
                </a:solidFill>
                <a:latin typeface="Calibri" pitchFamily="34" charset="0"/>
                <a:ea typeface="Calibri" pitchFamily="34" charset="-122"/>
                <a:cs typeface="Calibri" pitchFamily="34" charset="-120"/>
              </a:rPr>
              <a:t>Packets whose data disagreed with the buzz, in the circuit-model test</a:t>
            </a:r>
            <a:endParaRPr lang="en-US" sz="1350" dirty="0"/>
          </a:p>
        </p:txBody>
      </p:sp>
      <p:sp>
        <p:nvSpPr>
          <p:cNvPr id="9" name="Shape 7"/>
          <p:cNvSpPr/>
          <p:nvPr/>
        </p:nvSpPr>
        <p:spPr>
          <a:xfrm>
            <a:off x="548640" y="4626864"/>
            <a:ext cx="5212080" cy="1444752"/>
          </a:xfrm>
          <a:prstGeom prst="roundRect">
            <a:avLst>
              <a:gd name="adj" fmla="val 7595"/>
            </a:avLst>
          </a:prstGeom>
          <a:solidFill>
            <a:srgbClr val="FFFFFF"/>
          </a:solidFill>
          <a:ln w="9525">
            <a:solidFill>
              <a:srgbClr val="D5E0DF"/>
            </a:solidFill>
            <a:prstDash val="solid"/>
          </a:ln>
          <a:effectLst>
            <a:outerShdw sx="100000" sy="100000" kx="0" ky="0" algn="bl" rotWithShape="0" blurRad="127000" dist="25400" dir="5400000">
              <a:srgbClr val="0B2E35">
                <a:alpha val="10000"/>
              </a:srgbClr>
            </a:outerShdw>
          </a:effectLst>
        </p:spPr>
      </p:sp>
      <p:sp>
        <p:nvSpPr>
          <p:cNvPr id="10" name="Text 8"/>
          <p:cNvSpPr txBox="1"/>
          <p:nvPr/>
        </p:nvSpPr>
        <p:spPr>
          <a:xfrm>
            <a:off x="822960" y="4882896"/>
            <a:ext cx="2103120" cy="822960"/>
          </a:xfrm>
          <a:prstGeom prst="rect">
            <a:avLst/>
          </a:prstGeom>
          <a:noFill/>
          <a:ln/>
        </p:spPr>
        <p:txBody>
          <a:bodyPr wrap="square" lIns="0" tIns="0" rIns="0" bIns="0" rtlCol="0" anchor="ctr"/>
          <a:lstStyle/>
          <a:p>
            <a:pPr indent="0" marL="0">
              <a:buNone/>
            </a:pPr>
            <a:r>
              <a:rPr lang="en-US" sz="3600" b="1" dirty="0">
                <a:solidFill>
                  <a:srgbClr val="D9722F"/>
                </a:solidFill>
                <a:latin typeface="Cambria" pitchFamily="34" charset="0"/>
                <a:ea typeface="Cambria" pitchFamily="34" charset="-122"/>
                <a:cs typeface="Cambria" pitchFamily="34" charset="-120"/>
              </a:rPr>
              <a:t>2 bugs</a:t>
            </a:r>
            <a:endParaRPr lang="en-US" sz="3600" dirty="0"/>
          </a:p>
        </p:txBody>
      </p:sp>
      <p:sp>
        <p:nvSpPr>
          <p:cNvPr id="11" name="Text 9"/>
          <p:cNvSpPr txBox="1"/>
          <p:nvPr/>
        </p:nvSpPr>
        <p:spPr>
          <a:xfrm>
            <a:off x="2926080" y="4828032"/>
            <a:ext cx="2606040" cy="1051560"/>
          </a:xfrm>
          <a:prstGeom prst="rect">
            <a:avLst/>
          </a:prstGeom>
          <a:noFill/>
          <a:ln/>
        </p:spPr>
        <p:txBody>
          <a:bodyPr wrap="square" lIns="0" tIns="0" rIns="0" bIns="0" rtlCol="0" anchor="ctr"/>
          <a:lstStyle/>
          <a:p>
            <a:pPr indent="0" marL="0">
              <a:buNone/>
            </a:pPr>
            <a:r>
              <a:rPr lang="en-US" sz="1350" dirty="0">
                <a:solidFill>
                  <a:srgbClr val="3C5A60"/>
                </a:solidFill>
                <a:latin typeface="Calibri" pitchFamily="34" charset="0"/>
                <a:ea typeface="Calibri" pitchFamily="34" charset="-122"/>
                <a:cs typeface="Calibri" pitchFamily="34" charset="-120"/>
              </a:rPr>
              <a:t>Found in simulation and fixed: a scan that could freeze when a zone never charged, and a buzz with nobody standing</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605272" cy="914400"/>
        </p:xfrm>
        <a:graphic>
          <a:graphicData uri="http://schemas.openxmlformats.org/drawingml/2006/table">
            <a:tbl>
              <a:tblPr/>
              <a:tblGrid>
                <a:gridCol w="1417320"/>
                <a:gridCol w="4187952"/>
              </a:tblGrid>
              <a:tr h="457200">
                <a:tc gridSpan="2">
                  <a:txBody>
                    <a:bodyPr/>
                    <a:lstStyle/>
                    <a:p>
                      <a:pPr indent="0" marL="0">
                        <a:buNone/>
                      </a:pPr>
                      <a:r>
                        <a:rPr lang="en-US" sz="1600" b="1" dirty="0">
                          <a:solidFill>
                            <a:srgbClr val="F2F5F4"/>
                          </a:solidFill>
                          <a:latin typeface="Cambria" pitchFamily="34" charset="0"/>
                          <a:ea typeface="Cambria" pitchFamily="34" charset="-122"/>
                          <a:cs typeface="Cambria" pitchFamily="34" charset="-120"/>
                        </a:rPr>
                        <a:t>Design contract</a:t>
                      </a:r>
                      <a:endParaRPr lang="en-US" sz="1600" dirty="0">
                        <a:latin typeface="Cambria" charset="0"/>
                        <a:ea typeface="Cambria" charset="0"/>
                        <a:cs typeface="Cambria"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1A535E"/>
                    </a:solidFill>
                  </a:tcPr>
                </a:tc>
                <a:tc hMerge="1">
                  <a:tcPr/>
                </a:tc>
              </a:tr>
              <a:tr h="457200">
                <a:tc>
                  <a:txBody>
                    <a:bodyPr/>
                    <a:lstStyle/>
                    <a:p>
                      <a:pPr indent="0" marL="0">
                        <a:buNone/>
                      </a:pPr>
                      <a:r>
                        <a:rPr lang="en-US" sz="1300" b="1" dirty="0">
                          <a:solidFill>
                            <a:srgbClr val="0B2E35"/>
                          </a:solidFill>
                          <a:latin typeface="Calibri" pitchFamily="34" charset="0"/>
                          <a:ea typeface="Calibri" pitchFamily="34" charset="-122"/>
                          <a:cs typeface="Calibri" pitchFamily="34" charset="-120"/>
                        </a:rPr>
                        <a:t>Payload</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300" dirty="0">
                          <a:solidFill>
                            <a:srgbClr val="3C5A60"/>
                          </a:solidFill>
                          <a:latin typeface="Calibri" pitchFamily="34" charset="0"/>
                          <a:ea typeface="Calibri" pitchFamily="34" charset="-122"/>
                          <a:cs typeface="Calibri" pitchFamily="34" charset="-120"/>
                        </a:rPr>
                        <a:t>Six readings, six resting times, six load timers (ms)</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E35"/>
                          </a:solidFill>
                          <a:latin typeface="Calibri" pitchFamily="34" charset="0"/>
                          <a:ea typeface="Calibri" pitchFamily="34" charset="-122"/>
                          <a:cs typeface="Calibri" pitchFamily="34" charset="-120"/>
                        </a:rPr>
                        <a:t>Transport</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300" dirty="0">
                          <a:solidFill>
                            <a:srgbClr val="3C5A60"/>
                          </a:solidFill>
                          <a:latin typeface="Calibri" pitchFamily="34" charset="0"/>
                          <a:ea typeface="Calibri" pitchFamily="34" charset="-122"/>
                          <a:cs typeface="Calibri" pitchFamily="34" charset="-120"/>
                        </a:rPr>
                        <a:t>UDP broadcast, port 4210, every 100 ms and on change</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E35"/>
                          </a:solidFill>
                          <a:latin typeface="Calibri" pitchFamily="34" charset="0"/>
                          <a:ea typeface="Calibri" pitchFamily="34" charset="-122"/>
                          <a:cs typeface="Calibri" pitchFamily="34" charset="-120"/>
                        </a:rPr>
                        <a:t>Alert</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300" dirty="0">
                          <a:solidFill>
                            <a:srgbClr val="3C5A60"/>
                          </a:solidFill>
                          <a:latin typeface="Calibri" pitchFamily="34" charset="0"/>
                          <a:ea typeface="Calibri" pitchFamily="34" charset="-122"/>
                          <a:cs typeface="Calibri" pitchFamily="34" charset="-120"/>
                        </a:rPr>
                        <a:t>Any zone loaded 10 s in the demo, 15 min in the product</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E35"/>
                          </a:solidFill>
                          <a:latin typeface="Calibri" pitchFamily="34" charset="0"/>
                          <a:ea typeface="Calibri" pitchFamily="34" charset="-122"/>
                          <a:cs typeface="Calibri" pitchFamily="34" charset="-120"/>
                        </a:rPr>
                        <a:t>Grace</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300" dirty="0">
                          <a:solidFill>
                            <a:srgbClr val="3C5A60"/>
                          </a:solidFill>
                          <a:latin typeface="Calibri" pitchFamily="34" charset="0"/>
                          <a:ea typeface="Calibri" pitchFamily="34" charset="-122"/>
                          <a:cs typeface="Calibri" pitchFamily="34" charset="-120"/>
                        </a:rPr>
                        <a:t>Half a second, checked early so it is never late</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E35"/>
                          </a:solidFill>
                          <a:latin typeface="Calibri" pitchFamily="34" charset="0"/>
                          <a:ea typeface="Calibri" pitchFamily="34" charset="-122"/>
                          <a:cs typeface="Calibri" pitchFamily="34" charset="-120"/>
                        </a:rPr>
                        <a:t>Zone order</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300" dirty="0">
                          <a:solidFill>
                            <a:srgbClr val="3C5A60"/>
                          </a:solidFill>
                          <a:latin typeface="Calibri" pitchFamily="34" charset="0"/>
                          <a:ea typeface="Calibri" pitchFamily="34" charset="-122"/>
                          <a:cs typeface="Calibri" pitchFamily="34" charset="-120"/>
                        </a:rPr>
                        <a:t>Hallux, Toes 2–5, MT 1, MT 4–5, Midfoot, Heel</a:t>
                      </a:r>
                      <a:endParaRPr lang="en-US" sz="130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bl>
          </a:graphicData>
        </a:graphic>
      </p:graphicFrame>
      <p:sp>
        <p:nvSpPr>
          <p:cNvPr id="13" name="Shape 10"/>
          <p:cNvSpPr/>
          <p:nvPr/>
        </p:nvSpPr>
        <p:spPr>
          <a:xfrm>
            <a:off x="6035040" y="4526280"/>
            <a:ext cx="5605272" cy="1709928"/>
          </a:xfrm>
          <a:prstGeom prst="roundRect">
            <a:avLst>
              <a:gd name="adj" fmla="val 6417"/>
            </a:avLst>
          </a:prstGeom>
          <a:solidFill>
            <a:srgbClr val="0B2E35"/>
          </a:solidFill>
          <a:ln w="9525">
            <a:solidFill>
              <a:srgbClr val="0B2E35"/>
            </a:solidFill>
            <a:prstDash val="solid"/>
          </a:ln>
          <a:effectLst>
            <a:outerShdw sx="100000" sy="100000" kx="0" ky="0" algn="bl" rotWithShape="0" blurRad="127000" dist="25400" dir="5400000">
              <a:srgbClr val="0B2E35">
                <a:alpha val="10000"/>
              </a:srgbClr>
            </a:outerShdw>
          </a:effectLst>
        </p:spPr>
      </p:sp>
      <p:sp>
        <p:nvSpPr>
          <p:cNvPr id="14" name="Shape 11"/>
          <p:cNvSpPr/>
          <p:nvPr/>
        </p:nvSpPr>
        <p:spPr>
          <a:xfrm>
            <a:off x="6355080" y="4773168"/>
            <a:ext cx="566928" cy="566928"/>
          </a:xfrm>
          <a:prstGeom prst="ellipse">
            <a:avLst/>
          </a:prstGeom>
          <a:solidFill>
            <a:srgbClr val="E8A33A"/>
          </a:solidFill>
          <a:ln w="12700">
            <a:solidFill>
              <a:srgbClr val="E8A33A"/>
            </a:solidFill>
            <a:prstDash val="solid"/>
          </a:ln>
        </p:spPr>
      </p:sp>
      <p:pic>
        <p:nvPicPr>
          <p:cNvPr id="15" name="Image 0" descr="play icon">    </p:cNvPr>
          <p:cNvPicPr>
            <a:picLocks noChangeAspect="1"/>
          </p:cNvPicPr>
          <p:nvPr/>
        </p:nvPicPr>
        <p:blipFill>
          <a:blip r:embed="rId1"/>
          <a:stretch>
            <a:fillRect/>
          </a:stretch>
        </p:blipFill>
        <p:spPr>
          <a:xfrm>
            <a:off x="6485473" y="4903561"/>
            <a:ext cx="306141" cy="306141"/>
          </a:xfrm>
          <a:prstGeom prst="rect">
            <a:avLst/>
          </a:prstGeom>
        </p:spPr>
      </p:pic>
      <p:sp>
        <p:nvSpPr>
          <p:cNvPr id="16" name="Text 12"/>
          <p:cNvSpPr txBox="1"/>
          <p:nvPr/>
        </p:nvSpPr>
        <p:spPr>
          <a:xfrm>
            <a:off x="7132320" y="4818888"/>
            <a:ext cx="4206240" cy="411480"/>
          </a:xfrm>
          <a:prstGeom prst="rect">
            <a:avLst/>
          </a:prstGeom>
          <a:noFill/>
          <a:ln/>
        </p:spPr>
        <p:txBody>
          <a:bodyPr wrap="square" lIns="0" tIns="0" rIns="0" bIns="0" rtlCol="0" anchor="t"/>
          <a:lstStyle/>
          <a:p>
            <a:pPr indent="0" marL="0">
              <a:buNone/>
            </a:pPr>
            <a:r>
              <a:rPr lang="en-US" sz="2100" b="1" dirty="0">
                <a:solidFill>
                  <a:srgbClr val="F2F5F4"/>
                </a:solidFill>
                <a:latin typeface="Cambria" pitchFamily="34" charset="0"/>
                <a:ea typeface="Cambria" pitchFamily="34" charset="-122"/>
                <a:cs typeface="Cambria" pitchFamily="34" charset="-120"/>
              </a:rPr>
              <a:t>Live demo</a:t>
            </a:r>
            <a:endParaRPr lang="en-US" sz="2100" dirty="0"/>
          </a:p>
        </p:txBody>
      </p:sp>
      <p:sp>
        <p:nvSpPr>
          <p:cNvPr id="17" name="Text 13"/>
          <p:cNvSpPr txBox="1"/>
          <p:nvPr/>
        </p:nvSpPr>
        <p:spPr>
          <a:xfrm>
            <a:off x="7132320" y="5285232"/>
            <a:ext cx="4251960" cy="777240"/>
          </a:xfrm>
          <a:prstGeom prst="rect">
            <a:avLst/>
          </a:prstGeom>
          <a:noFill/>
          <a:ln/>
        </p:spPr>
        <p:txBody>
          <a:bodyPr wrap="square" lIns="0" tIns="0" rIns="0" bIns="0" rtlCol="0" anchor="t"/>
          <a:lstStyle/>
          <a:p>
            <a:pPr indent="0" marL="0">
              <a:buNone/>
            </a:pPr>
            <a:r>
              <a:rPr lang="en-US" sz="1400" dirty="0">
                <a:solidFill>
                  <a:srgbClr val="A7C4C9"/>
                </a:solidFill>
                <a:latin typeface="Calibri" pitchFamily="34" charset="0"/>
                <a:ea typeface="Calibri" pitchFamily="34" charset="-122"/>
                <a:cs typeface="Calibri" pitchFamily="34" charset="-120"/>
              </a:rPr>
              <a:t>Press a zone and its timer runs. At 10 s the device buzzes and the screen alerts. Lift the foot and both clear.</a:t>
            </a:r>
            <a:endParaRPr lang="en-US" sz="1400" dirty="0"/>
          </a:p>
        </p:txBody>
      </p:sp>
      <p:sp>
        <p:nvSpPr>
          <p:cNvPr id="18" name="Text 14"/>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19" name="Text 15"/>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E35"/>
        </a:solidFill>
      </p:bgPr>
    </p:bg>
    <p:spTree>
      <p:nvGrpSpPr>
        <p:cNvPr id="1" name=""/>
        <p:cNvGrpSpPr/>
        <p:nvPr/>
      </p:nvGrpSpPr>
      <p:grpSpPr>
        <a:xfrm>
          <a:off x="0" y="0"/>
          <a:ext cx="0" cy="0"/>
          <a:chOff x="0" y="0"/>
          <a:chExt cx="0" cy="0"/>
        </a:xfrm>
      </p:grpSpPr>
      <p:pic>
        <p:nvPicPr>
          <p:cNvPr id="2" name="Image 0" descr="SPARSH logo: a footprint with a plus sign">    </p:cNvPr>
          <p:cNvPicPr>
            <a:picLocks noChangeAspect="1"/>
          </p:cNvPicPr>
          <p:nvPr/>
        </p:nvPicPr>
        <p:blipFill>
          <a:blip r:embed="rId1"/>
          <a:stretch>
            <a:fillRect/>
          </a:stretch>
        </p:blipFill>
        <p:spPr>
          <a:xfrm>
            <a:off x="731520" y="685800"/>
            <a:ext cx="475488" cy="822960"/>
          </a:xfrm>
          <a:prstGeom prst="rect">
            <a:avLst/>
          </a:prstGeom>
        </p:spPr>
      </p:pic>
      <p:sp>
        <p:nvSpPr>
          <p:cNvPr id="3" name="Text 0"/>
          <p:cNvSpPr txBox="1"/>
          <p:nvPr/>
        </p:nvSpPr>
        <p:spPr>
          <a:xfrm>
            <a:off x="685800" y="1645920"/>
            <a:ext cx="7498080" cy="1417320"/>
          </a:xfrm>
          <a:prstGeom prst="rect">
            <a:avLst/>
          </a:prstGeom>
          <a:noFill/>
          <a:ln/>
        </p:spPr>
        <p:txBody>
          <a:bodyPr wrap="square" lIns="0" tIns="0" rIns="0" bIns="0" rtlCol="0" anchor="t"/>
          <a:lstStyle/>
          <a:p>
            <a:pPr indent="0" marL="0">
              <a:buNone/>
            </a:pPr>
            <a:r>
              <a:rPr lang="en-US" sz="4200" b="1" dirty="0">
                <a:solidFill>
                  <a:srgbClr val="F2F5F4"/>
                </a:solidFill>
                <a:latin typeface="Cambria" pitchFamily="34" charset="0"/>
                <a:ea typeface="Cambria" pitchFamily="34" charset="-122"/>
                <a:cs typeface="Cambria" pitchFamily="34" charset="-120"/>
              </a:rPr>
              <a:t>SPARSH gives the</a:t>
            </a:r>
            <a:endParaRPr lang="en-US" sz="4200" dirty="0"/>
          </a:p>
          <a:p>
            <a:pPr indent="0" marL="0">
              <a:buNone/>
            </a:pPr>
            <a:r>
              <a:rPr lang="en-US" sz="4200" b="1" dirty="0">
                <a:solidFill>
                  <a:srgbClr val="F2F5F4"/>
                </a:solidFill>
                <a:latin typeface="Cambria" pitchFamily="34" charset="0"/>
                <a:ea typeface="Cambria" pitchFamily="34" charset="-122"/>
                <a:cs typeface="Cambria" pitchFamily="34" charset="-120"/>
              </a:rPr>
              <a:t>warning back.</a:t>
            </a:r>
            <a:endParaRPr lang="en-US" sz="4200" dirty="0"/>
          </a:p>
        </p:txBody>
      </p:sp>
      <p:sp>
        <p:nvSpPr>
          <p:cNvPr id="4" name="Text 1"/>
          <p:cNvSpPr/>
          <p:nvPr/>
        </p:nvSpPr>
        <p:spPr>
          <a:xfrm>
            <a:off x="731520" y="3374136"/>
            <a:ext cx="841248" cy="237744"/>
          </a:xfrm>
          <a:prstGeom prst="roundRect">
            <a:avLst>
              <a:gd name="adj" fmla="val 50000"/>
            </a:avLst>
          </a:prstGeom>
          <a:solidFill>
            <a:srgbClr val="1A535E"/>
          </a:solidFill>
          <a:ln>
            <a:solidFill>
              <a:srgbClr val="1A535E"/>
            </a:solidFill>
          </a:ln>
        </p:spPr>
        <p:txBody>
          <a:bodyPr wrap="square" lIns="0" tIns="0" rIns="0" bIns="0" rtlCol="0" anchor="ctr"/>
          <a:lstStyle/>
          <a:p>
            <a:pPr algn="ctr" indent="0" marL="0">
              <a:buNone/>
            </a:pPr>
            <a:r>
              <a:rPr lang="en-US" sz="900" b="1" spc="100" kern="0" dirty="0">
                <a:solidFill>
                  <a:srgbClr val="F2F5F4"/>
                </a:solidFill>
                <a:latin typeface="Calibri" pitchFamily="34" charset="0"/>
                <a:ea typeface="Calibri" pitchFamily="34" charset="-122"/>
                <a:cs typeface="Calibri" pitchFamily="34" charset="-120"/>
              </a:rPr>
              <a:t>CURRENT</a:t>
            </a:r>
            <a:endParaRPr lang="en-US" sz="900" dirty="0"/>
          </a:p>
        </p:txBody>
      </p:sp>
      <p:sp>
        <p:nvSpPr>
          <p:cNvPr id="5" name="Text 2"/>
          <p:cNvSpPr txBox="1"/>
          <p:nvPr/>
        </p:nvSpPr>
        <p:spPr>
          <a:xfrm>
            <a:off x="1783080" y="3337560"/>
            <a:ext cx="6400800" cy="365760"/>
          </a:xfrm>
          <a:prstGeom prst="rect">
            <a:avLst/>
          </a:prstGeom>
          <a:noFill/>
          <a:ln/>
        </p:spPr>
        <p:txBody>
          <a:bodyPr wrap="square" lIns="0" tIns="0" rIns="0" bIns="0" rtlCol="0" anchor="t"/>
          <a:lstStyle/>
          <a:p>
            <a:pPr indent="0" marL="0">
              <a:buNone/>
            </a:pPr>
            <a:r>
              <a:rPr lang="en-US" sz="1700" dirty="0">
                <a:solidFill>
                  <a:srgbClr val="A7C4C9"/>
                </a:solidFill>
                <a:latin typeface="Calibri" pitchFamily="34" charset="0"/>
                <a:ea typeface="Calibri" pitchFamily="34" charset="-122"/>
                <a:cs typeface="Calibri" pitchFamily="34" charset="-120"/>
              </a:rPr>
              <a:t>Sensing insole, device alert and live dashboard, working today.</a:t>
            </a:r>
            <a:endParaRPr lang="en-US" sz="1700" dirty="0"/>
          </a:p>
        </p:txBody>
      </p:sp>
      <p:sp>
        <p:nvSpPr>
          <p:cNvPr id="6" name="Text 3"/>
          <p:cNvSpPr/>
          <p:nvPr/>
        </p:nvSpPr>
        <p:spPr>
          <a:xfrm>
            <a:off x="731520" y="3995928"/>
            <a:ext cx="841248" cy="237744"/>
          </a:xfrm>
          <a:prstGeom prst="roundRect">
            <a:avLst>
              <a:gd name="adj" fmla="val 50000"/>
            </a:avLst>
          </a:prstGeom>
          <a:solidFill>
            <a:srgbClr val="E8A33A"/>
          </a:solidFill>
          <a:ln>
            <a:solidFill>
              <a:srgbClr val="E8A33A"/>
            </a:solidFill>
          </a:ln>
        </p:spPr>
        <p:txBody>
          <a:bodyPr wrap="square" lIns="0" tIns="0" rIns="0" bIns="0" rtlCol="0" anchor="ctr"/>
          <a:lstStyle/>
          <a:p>
            <a:pPr algn="ctr" indent="0" marL="0">
              <a:buNone/>
            </a:pPr>
            <a:r>
              <a:rPr lang="en-US" sz="900" b="1" spc="100" kern="0" dirty="0">
                <a:solidFill>
                  <a:srgbClr val="0B2E35"/>
                </a:solidFill>
                <a:latin typeface="Calibri" pitchFamily="34" charset="0"/>
                <a:ea typeface="Calibri" pitchFamily="34" charset="-122"/>
                <a:cs typeface="Calibri" pitchFamily="34" charset="-120"/>
              </a:rPr>
              <a:t>NEXT</a:t>
            </a:r>
            <a:endParaRPr lang="en-US" sz="900" dirty="0"/>
          </a:p>
        </p:txBody>
      </p:sp>
      <p:sp>
        <p:nvSpPr>
          <p:cNvPr id="7" name="Text 4"/>
          <p:cNvSpPr txBox="1"/>
          <p:nvPr/>
        </p:nvSpPr>
        <p:spPr>
          <a:xfrm>
            <a:off x="1783080" y="3959352"/>
            <a:ext cx="6400800" cy="365760"/>
          </a:xfrm>
          <a:prstGeom prst="rect">
            <a:avLst/>
          </a:prstGeom>
          <a:noFill/>
          <a:ln/>
        </p:spPr>
        <p:txBody>
          <a:bodyPr wrap="square" lIns="0" tIns="0" rIns="0" bIns="0" rtlCol="0" anchor="t"/>
          <a:lstStyle/>
          <a:p>
            <a:pPr indent="0" marL="0">
              <a:buNone/>
            </a:pPr>
            <a:r>
              <a:rPr lang="en-US" sz="1700" dirty="0">
                <a:solidFill>
                  <a:srgbClr val="A7C4C9"/>
                </a:solidFill>
                <a:latin typeface="Calibri" pitchFamily="34" charset="0"/>
                <a:ea typeface="Calibri" pitchFamily="34" charset="-122"/>
                <a:cs typeface="Calibri" pitchFamily="34" charset="-120"/>
              </a:rPr>
              <a:t>Calibration, a sealed ankle pod and a clinic pilot.</a:t>
            </a:r>
            <a:endParaRPr lang="en-US" sz="1700" dirty="0"/>
          </a:p>
        </p:txBody>
      </p:sp>
      <p:sp>
        <p:nvSpPr>
          <p:cNvPr id="8" name="Text 5"/>
          <p:cNvSpPr/>
          <p:nvPr/>
        </p:nvSpPr>
        <p:spPr>
          <a:xfrm>
            <a:off x="731520" y="4617720"/>
            <a:ext cx="841248" cy="237744"/>
          </a:xfrm>
          <a:prstGeom prst="roundRect">
            <a:avLst>
              <a:gd name="adj" fmla="val 50000"/>
            </a:avLst>
          </a:prstGeom>
          <a:solidFill>
            <a:srgbClr val="E4EBEA"/>
          </a:solidFill>
          <a:ln>
            <a:solidFill>
              <a:srgbClr val="E4EBEA"/>
            </a:solidFill>
          </a:ln>
        </p:spPr>
        <p:txBody>
          <a:bodyPr wrap="square" lIns="0" tIns="0" rIns="0" bIns="0" rtlCol="0" anchor="ctr"/>
          <a:lstStyle/>
          <a:p>
            <a:pPr algn="ctr" indent="0" marL="0">
              <a:buNone/>
            </a:pPr>
            <a:r>
              <a:rPr lang="en-US" sz="900" b="1" spc="100" kern="0" dirty="0">
                <a:solidFill>
                  <a:srgbClr val="5C7C83"/>
                </a:solidFill>
                <a:latin typeface="Calibri" pitchFamily="34" charset="0"/>
                <a:ea typeface="Calibri" pitchFamily="34" charset="-122"/>
                <a:cs typeface="Calibri" pitchFamily="34" charset="-120"/>
              </a:rPr>
              <a:t>FUTURE</a:t>
            </a:r>
            <a:endParaRPr lang="en-US" sz="900" dirty="0"/>
          </a:p>
        </p:txBody>
      </p:sp>
      <p:sp>
        <p:nvSpPr>
          <p:cNvPr id="9" name="Text 6"/>
          <p:cNvSpPr txBox="1"/>
          <p:nvPr/>
        </p:nvSpPr>
        <p:spPr>
          <a:xfrm>
            <a:off x="1783080" y="4581144"/>
            <a:ext cx="6400800" cy="365760"/>
          </a:xfrm>
          <a:prstGeom prst="rect">
            <a:avLst/>
          </a:prstGeom>
          <a:noFill/>
          <a:ln/>
        </p:spPr>
        <p:txBody>
          <a:bodyPr wrap="square" lIns="0" tIns="0" rIns="0" bIns="0" rtlCol="0" anchor="t"/>
          <a:lstStyle/>
          <a:p>
            <a:pPr indent="0" marL="0">
              <a:buNone/>
            </a:pPr>
            <a:r>
              <a:rPr lang="en-US" sz="1700" dirty="0">
                <a:solidFill>
                  <a:srgbClr val="A7C4C9"/>
                </a:solidFill>
                <a:latin typeface="Calibri" pitchFamily="34" charset="0"/>
                <a:ea typeface="Calibri" pitchFamily="34" charset="-122"/>
                <a:cs typeface="Calibri" pitchFamily="34" charset="-120"/>
              </a:rPr>
              <a:t>Fewer ulcers and amputations among people with numb feet.</a:t>
            </a:r>
            <a:endParaRPr lang="en-US" sz="1700" dirty="0"/>
          </a:p>
        </p:txBody>
      </p:sp>
      <p:sp>
        <p:nvSpPr>
          <p:cNvPr id="10" name="Text 7"/>
          <p:cNvSpPr txBox="1"/>
          <p:nvPr/>
        </p:nvSpPr>
        <p:spPr>
          <a:xfrm>
            <a:off x="713232" y="5303520"/>
            <a:ext cx="5486400" cy="457200"/>
          </a:xfrm>
          <a:prstGeom prst="rect">
            <a:avLst/>
          </a:prstGeom>
          <a:noFill/>
          <a:ln/>
        </p:spPr>
        <p:txBody>
          <a:bodyPr wrap="square" lIns="0" tIns="0" rIns="0" bIns="0" rtlCol="0" anchor="t"/>
          <a:lstStyle/>
          <a:p>
            <a:pPr indent="0" marL="0">
              <a:buNone/>
            </a:pPr>
            <a:r>
              <a:rPr lang="en-US" sz="2400" i="1" dirty="0">
                <a:solidFill>
                  <a:srgbClr val="F2F5F4"/>
                </a:solidFill>
                <a:latin typeface="Cambria" pitchFamily="34" charset="0"/>
                <a:ea typeface="Cambria" pitchFamily="34" charset="-122"/>
                <a:cs typeface="Cambria" pitchFamily="34" charset="-120"/>
              </a:rPr>
              <a:t>Thank you</a:t>
            </a:r>
            <a:endParaRPr lang="en-US" sz="2400" dirty="0"/>
          </a:p>
        </p:txBody>
      </p:sp>
      <p:sp>
        <p:nvSpPr>
          <p:cNvPr id="11" name="Text 8"/>
          <p:cNvSpPr txBox="1"/>
          <p:nvPr/>
        </p:nvSpPr>
        <p:spPr>
          <a:xfrm>
            <a:off x="713232" y="5760720"/>
            <a:ext cx="6858000" cy="274320"/>
          </a:xfrm>
          <a:prstGeom prst="rect">
            <a:avLst/>
          </a:prstGeom>
          <a:noFill/>
          <a:ln/>
        </p:spPr>
        <p:txBody>
          <a:bodyPr wrap="square" lIns="0" tIns="0" rIns="0" bIns="0" rtlCol="0" anchor="t"/>
          <a:lstStyle/>
          <a:p>
            <a:pPr indent="0" marL="0">
              <a:buNone/>
            </a:pPr>
            <a:r>
              <a:rPr lang="en-US" sz="1300" dirty="0">
                <a:solidFill>
                  <a:srgbClr val="9FB8BD"/>
                </a:solidFill>
                <a:latin typeface="Calibri" pitchFamily="34" charset="0"/>
                <a:ea typeface="Calibri" pitchFamily="34" charset="-122"/>
                <a:cs typeface="Calibri" pitchFamily="34" charset="-120"/>
              </a:rPr>
              <a:t>Team  </a:t>
            </a:r>
            <a:pPr indent="0" marL="0">
              <a:buNone/>
            </a:pPr>
            <a:r>
              <a:rPr lang="en-US" sz="1300" i="1" dirty="0">
                <a:solidFill>
                  <a:srgbClr val="E8A33A"/>
                </a:solidFill>
                <a:latin typeface="Calibri" pitchFamily="34" charset="0"/>
                <a:ea typeface="Calibri" pitchFamily="34" charset="-122"/>
                <a:cs typeface="Calibri" pitchFamily="34" charset="-120"/>
              </a:rPr>
              <a:t>[Team name]   ·   [email]</a:t>
            </a:r>
            <a:endParaRPr lang="en-US" sz="1300" dirty="0"/>
          </a:p>
        </p:txBody>
      </p:sp>
      <p:pic>
        <p:nvPicPr>
          <p:cNvPr id="12" name="Image 1" descr="Foot drawn as ridge lines, with load building under the ball of the foot">    </p:cNvPr>
          <p:cNvPicPr>
            <a:picLocks noChangeAspect="1"/>
          </p:cNvPicPr>
          <p:nvPr/>
        </p:nvPicPr>
        <p:blipFill>
          <a:blip r:embed="rId2"/>
          <a:stretch>
            <a:fillRect/>
          </a:stretch>
        </p:blipFill>
        <p:spPr>
          <a:xfrm>
            <a:off x="8366760" y="548640"/>
            <a:ext cx="2953512" cy="5760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0B2E35"/>
                </a:solidFill>
                <a:latin typeface="Cambria" pitchFamily="34" charset="0"/>
                <a:ea typeface="Cambria" pitchFamily="34" charset="-122"/>
                <a:cs typeface="Cambria" pitchFamily="34" charset="-120"/>
              </a:rPr>
              <a:t>Appendix: questions we expect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1672" cy="914400"/>
        </p:xfrm>
        <a:graphic>
          <a:graphicData uri="http://schemas.openxmlformats.org/drawingml/2006/table">
            <a:tbl>
              <a:tblPr/>
              <a:tblGrid>
                <a:gridCol w="3749040"/>
                <a:gridCol w="7342632"/>
              </a:tblGrid>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How is this different from commercial pressure insoles?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Same proven idea. SPARSH alerts without a watch or phone, keeps data local and uses off-the-shelf parts. It has not been clinically tested yet.</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Why 10 seconds?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Demo only. The product limit is 15 minutes, the duration the trial authors flag. A pilot will tune it.</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How accurate are the sensors?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Uncalibrated. Each zone is compared with its own resting reading, not measured in kPa. Calibration against known weights comes first.</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Won't walking trigger alerts?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Each zone lifts during every step, and a gap over half a second resets its timer. Gait recordings will confirm this.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What if Wi-Fi drops?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The alert runs on the device. Wi-Fi only feeds the dashboard, which says when data stops.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Why not put the electronics in the sole?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A rigid board under a numb foot creates the very pressure point we prevent, so the design moves them to an ankle pod.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What happens to the data?</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No cloud or account. Readings stay on the local network; profile details stay in the browser tab.</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Is it a medical device?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A monitoring aid with no diagnostic claim. Its class under India's MDR 2017 is still to be confirmed.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What does it cost, and how is it powered?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i="1" dirty="0">
                          <a:solidFill>
                            <a:srgbClr val="D9722F"/>
                          </a:solidFill>
                          <a:latin typeface="Calibri" pitchFamily="34" charset="0"/>
                          <a:ea typeface="Calibri" pitchFamily="34" charset="-122"/>
                          <a:cs typeface="Calibri" pitchFamily="34" charset="-120"/>
                        </a:rPr>
                        <a:t>[₹ parts cost for the demo unit; power source and runtime]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5" name="Text 2"/>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0B2E35"/>
                </a:solidFill>
                <a:latin typeface="Cambria" pitchFamily="34" charset="0"/>
                <a:ea typeface="Cambria" pitchFamily="34" charset="-122"/>
                <a:cs typeface="Cambria" pitchFamily="34" charset="-120"/>
              </a:rPr>
              <a:t>Appendix: technical design summary</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1672" cy="914400"/>
        </p:xfrm>
        <a:graphic>
          <a:graphicData uri="http://schemas.openxmlformats.org/drawingml/2006/table">
            <a:tbl>
              <a:tblPr/>
              <a:tblGrid>
                <a:gridCol w="2377440"/>
                <a:gridCol w="8714232"/>
              </a:tblGrid>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Zones and pins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Hallux 23  ·  Toes 2–5 22  ·  MT 1 21  ·  MT 4–5 19  ·  Midfoot 18  ·  Heel 5</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Sense line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GPIO34 (ADC1, usable with Wi-Fi on), with a capacitor to GND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Buzzer</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GPIO27</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Read cycle per zone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All drive pins low → this zone high, others floating → time how fast the line rises (10 ms max)</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Loaded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4× faster than its resting time; stays loaded until only 2× faster</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Timer and grace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One per zone. Resets after half a second unloaded, checked one scan early so it is never late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Alert</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Any zone loaded continuously for 10 s (demo) → buzzer on until relief</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Payload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Six readings | six resting times | six counters (ms, 0 = unloaded), UDP broadcast on port 4210, every 100 ms and on change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Bridge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Python 3 standard library. Serves the dashboard at localhost:8000, streams /events, turns readings into heat</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Dashboard</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Counters at 90× (10 s reads as 15:00), heat from readings. Without an insole it simulates the same rule</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0B2E35"/>
                          </a:solidFill>
                          <a:latin typeface="Calibri" pitchFamily="34" charset="0"/>
                          <a:ea typeface="Calibri" pitchFamily="34" charset="-122"/>
                          <a:cs typeface="Calibri" pitchFamily="34" charset="-120"/>
                        </a:rPr>
                        <a:t>Serial monitor</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c>
                  <a:txBody>
                    <a:bodyPr/>
                    <a:lstStyle/>
                    <a:p>
                      <a:pPr indent="0" marL="0">
                        <a:buNone/>
                      </a:pPr>
                      <a:r>
                        <a:rPr lang="en-US" sz="1250" dirty="0">
                          <a:solidFill>
                            <a:srgbClr val="3C5A60"/>
                          </a:solidFill>
                          <a:latin typeface="Calibri" pitchFamily="34" charset="0"/>
                          <a:ea typeface="Calibri" pitchFamily="34" charset="-122"/>
                          <a:cs typeface="Calibri" pitchFamily="34" charset="-120"/>
                        </a:rPr>
                        <a:t>115200 baud: charge times | resting times | counters</a:t>
                      </a:r>
                      <a:endParaRPr lang="en-US" sz="1250" dirty="0">
                        <a:latin typeface="Calibri" charset="0"/>
                        <a:ea typeface="Calibri" charset="0"/>
                        <a:cs typeface="Calibri" charset="0"/>
                      </a:endParaRPr>
                    </a:p>
                  </a:txBody>
                  <a:tcPr marL="137160" marR="137160" marT="0" marB="0" anchor="ctr">
                    <a:lnL w="9525" cap="flat" cmpd="sng" algn="ctr">
                      <a:solidFill>
                        <a:srgbClr val="D5E0DF"/>
                      </a:solidFill>
                      <a:prstDash val="solid"/>
                      <a:round/>
                      <a:headEnd type="none" w="med" len="med"/>
                      <a:tailEnd type="none" w="med" len="med"/>
                    </a:lnL>
                    <a:lnR w="9525" cap="flat" cmpd="sng" algn="ctr">
                      <a:solidFill>
                        <a:srgbClr val="D5E0DF"/>
                      </a:solidFill>
                      <a:prstDash val="solid"/>
                      <a:round/>
                      <a:headEnd type="none" w="med" len="med"/>
                      <a:tailEnd type="none" w="med" len="med"/>
                    </a:lnR>
                    <a:lnT w="9525" cap="flat" cmpd="sng" algn="ctr">
                      <a:solidFill>
                        <a:srgbClr val="D5E0DF"/>
                      </a:solidFill>
                      <a:prstDash val="solid"/>
                      <a:round/>
                      <a:headEnd type="none" w="med" len="med"/>
                      <a:tailEnd type="none" w="med" len="med"/>
                    </a:lnT>
                    <a:lnB w="9525" cap="flat" cmpd="sng" algn="ctr">
                      <a:solidFill>
                        <a:srgbClr val="D5E0D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3657600" cy="201168"/>
          </a:xfrm>
          <a:prstGeom prst="rect">
            <a:avLst/>
          </a:prstGeom>
          <a:noFill/>
          <a:ln/>
        </p:spPr>
        <p:txBody>
          <a:bodyPr wrap="square" lIns="0" tIns="0" rIns="0" bIns="0" rtlCol="0" anchor="t"/>
          <a:lstStyle/>
          <a:p>
            <a:pPr indent="0" marL="0">
              <a:buNone/>
            </a:pPr>
            <a:r>
              <a:rPr lang="en-US" sz="1000" b="1" dirty="0">
                <a:solidFill>
                  <a:srgbClr val="5C7C83"/>
                </a:solidFill>
                <a:latin typeface="Calibri" pitchFamily="34" charset="0"/>
                <a:ea typeface="Calibri" pitchFamily="34" charset="-122"/>
                <a:cs typeface="Calibri" pitchFamily="34" charset="-120"/>
              </a:rPr>
              <a:t>SPARSH</a:t>
            </a:r>
            <a:pPr indent="0" marL="0">
              <a:buNone/>
            </a:pPr>
            <a:r>
              <a:rPr lang="en-US" sz="1000" dirty="0">
                <a:solidFill>
                  <a:srgbClr val="5C7C83"/>
                </a:solidFill>
                <a:latin typeface="Calibri" pitchFamily="34" charset="0"/>
                <a:ea typeface="Calibri" pitchFamily="34" charset="-122"/>
                <a:cs typeface="Calibri" pitchFamily="34" charset="-120"/>
              </a:rPr>
              <a:t>   VMEDITHON 3.0</a:t>
            </a:r>
            <a:endParaRPr lang="en-US" sz="1000" dirty="0"/>
          </a:p>
        </p:txBody>
      </p:sp>
      <p:sp>
        <p:nvSpPr>
          <p:cNvPr id="5" name="Text 2"/>
          <p:cNvSpPr txBox="1"/>
          <p:nvPr/>
        </p:nvSpPr>
        <p:spPr>
          <a:xfrm>
            <a:off x="11185855" y="6473952"/>
            <a:ext cx="457200" cy="201168"/>
          </a:xfrm>
          <a:prstGeom prst="rect">
            <a:avLst/>
          </a:prstGeom>
          <a:noFill/>
          <a:ln/>
        </p:spPr>
        <p:txBody>
          <a:bodyPr wrap="square" lIns="0" tIns="0" rIns="0" bIns="0" rtlCol="0" anchor="t"/>
          <a:lstStyle/>
          <a:p>
            <a:pPr algn="r" indent="0" marL="0">
              <a:buNone/>
            </a:pPr>
            <a:r>
              <a:rPr lang="en-US" sz="1000" dirty="0">
                <a:solidFill>
                  <a:srgbClr val="5C7C8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SPARSH — VMEDITHON 3.0 final round</dc:title>
  <dc:subject>PptxGenJS Presentation</dc:subject>
  <dc:creator>SPARSH team</dc:creator>
  <cp:lastModifiedBy>SPARSH team</cp:lastModifiedBy>
  <cp:revision>1</cp:revision>
  <dcterms:created xsi:type="dcterms:W3CDTF">2026-09-15T23:44:33Z</dcterms:created>
  <dcterms:modified xsi:type="dcterms:W3CDTF">2026-09-15T23:44:33Z</dcterms:modified>
</cp:coreProperties>
</file>